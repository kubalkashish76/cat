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84" r:id="rId1"/>
  </p:sldMasterIdLst>
  <p:notesMasterIdLst>
    <p:notesMasterId r:id="rId17"/>
  </p:notesMasterIdLst>
  <p:sldIdLst>
    <p:sldId id="256" r:id="rId2"/>
    <p:sldId id="257" r:id="rId3"/>
    <p:sldId id="275" r:id="rId4"/>
    <p:sldId id="276" r:id="rId5"/>
    <p:sldId id="286" r:id="rId6"/>
    <p:sldId id="277" r:id="rId7"/>
    <p:sldId id="278" r:id="rId8"/>
    <p:sldId id="285" r:id="rId9"/>
    <p:sldId id="282" r:id="rId10"/>
    <p:sldId id="287" r:id="rId11"/>
    <p:sldId id="280" r:id="rId12"/>
    <p:sldId id="288" r:id="rId13"/>
    <p:sldId id="281" r:id="rId14"/>
    <p:sldId id="283" r:id="rId15"/>
    <p:sldId id="284" r:id="rId16"/>
  </p:sldIdLst>
  <p:sldSz cx="12192000" cy="6858000"/>
  <p:notesSz cx="6858000" cy="9144000"/>
  <p:embeddedFontLst>
    <p:embeddedFont>
      <p:font typeface="Wingdings 2" pitchFamily="18" charset="2"/>
      <p:regular r:id="rId18"/>
    </p:embeddedFont>
    <p:embeddedFont>
      <p:font typeface="Gill Sans" charset="0"/>
      <p:regular r:id="rId19"/>
    </p:embeddedFont>
    <p:embeddedFont>
      <p:font typeface="Constantia" pitchFamily="18" charset="0"/>
      <p:regular r:id="rId20"/>
      <p:bold r:id="rId21"/>
      <p:italic r:id="rId22"/>
      <p:boldItalic r:id="rId23"/>
    </p:embeddedFont>
    <p:embeddedFont>
      <p:font typeface="Calibri" pitchFamily="34"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xmlns="">
        <p15:guide id="1" orient="horz" pos="2132" userDrawn="1">
          <p15:clr>
            <a:srgbClr val="A4A3A4"/>
          </p15:clr>
        </p15:guide>
        <p15:guide id="2" pos="39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p:scale>
          <a:sx n="72" d="100"/>
          <a:sy n="72" d="100"/>
        </p:scale>
        <p:origin x="-427" y="-82"/>
      </p:cViewPr>
      <p:guideLst>
        <p:guide orient="horz" pos="2132"/>
        <p:guide pos="398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65005516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8" name="Google Shape;98;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711200" y="1371600"/>
            <a:ext cx="10468864"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711200" y="3228536"/>
            <a:ext cx="10472928"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DE52F7AB-2495-4F63-B9EF-7F777B7992F7}" type="datetime1">
              <a:rPr lang="en-US" smtClean="0"/>
              <a:t>9/12/2025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C5F2C70-485B-4CD2-A99B-7F1D7D0ACFDF}" type="datetime1">
              <a:rPr lang="en-US" smtClean="0"/>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07136" y="1316736"/>
            <a:ext cx="103632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07136" y="2704664"/>
            <a:ext cx="103632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A403D5A9-B37E-4396-B150-FB0B5FAF9354}" type="datetime1">
              <a:rPr lang="en-US" smtClean="0"/>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609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6197600" y="1920085"/>
            <a:ext cx="53848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13897C4E-C0D2-46F2-9575-0A96607A630D}" type="datetime1">
              <a:rPr lang="en-US" smtClean="0"/>
              <a:t>9/12/2025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09728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09600" y="1855248"/>
            <a:ext cx="5386917"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6193368" y="1859758"/>
            <a:ext cx="5389033"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609600" y="2514600"/>
            <a:ext cx="5386917"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6193368" y="2514600"/>
            <a:ext cx="5389033"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34D0DA4C-C0E8-4C98-A104-BE1622999263}" type="datetime1">
              <a:rPr lang="en-US" smtClean="0"/>
              <a:t>9/12/2025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600" y="704088"/>
            <a:ext cx="110744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0C2369EE-CB54-463D-A79E-EE201CEC8F45}" type="datetime1">
              <a:rPr lang="en-US" smtClean="0"/>
              <a:t>9/12/2025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8B21A6-BA49-4074-9FB3-695F5210A2A7}" type="datetime1">
              <a:rPr lang="en-US" smtClean="0"/>
              <a:t>9/12/2025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514352"/>
            <a:ext cx="36576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76400"/>
            <a:ext cx="36576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766733" y="1676400"/>
            <a:ext cx="6815667"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86D78578-ED0C-492D-8656-B6BA14C0601E}" type="datetime1">
              <a:rPr lang="en-US" smtClean="0"/>
              <a:t>9/12/2025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4221004" y="1108077"/>
            <a:ext cx="70104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10672179" y="5359769"/>
            <a:ext cx="207264"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812800" y="1176997"/>
            <a:ext cx="2950464"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812800" y="2828785"/>
            <a:ext cx="29464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8A7F461D-3690-42F3-A804-6B34977760A6}" type="datetime1">
              <a:rPr lang="en-US" smtClean="0"/>
              <a:t>9/12/2025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69600" y="6356351"/>
            <a:ext cx="812800" cy="365125"/>
          </a:xfrm>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3" name="Picture Placeholder 2"/>
          <p:cNvSpPr>
            <a:spLocks noGrp="1"/>
          </p:cNvSpPr>
          <p:nvPr>
            <p:ph type="pic" idx="1"/>
          </p:nvPr>
        </p:nvSpPr>
        <p:spPr>
          <a:xfrm rot="420000">
            <a:off x="4647724" y="1199517"/>
            <a:ext cx="615696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12700" y="5816600"/>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5842000" y="6219826"/>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A64B59EB-07B0-4BA2-A239-EEEDFFAF76B6}" type="datetime1">
              <a:rPr lang="en-US" smtClean="0"/>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914402"/>
            <a:ext cx="27432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609600" y="914402"/>
            <a:ext cx="80264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792499D-A2E7-49DA-8AB8-E6202D3E0E55}" type="datetime1">
              <a:rPr lang="en-US" smtClean="0"/>
              <a:t>9/12/2025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12700" y="-7144"/>
            <a:ext cx="1221740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5842000" y="-7144"/>
            <a:ext cx="63500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609600" y="704088"/>
            <a:ext cx="109728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609600" y="1935480"/>
            <a:ext cx="109728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609600" y="6356351"/>
            <a:ext cx="2844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92BAAD62-2139-40DA-819E-985BBEB294B2}" type="datetime1">
              <a:rPr lang="en-US" smtClean="0"/>
              <a:t>9/12/2025</a:t>
            </a:fld>
            <a:endParaRPr lang="en-US"/>
          </a:p>
        </p:txBody>
      </p:sp>
      <p:sp>
        <p:nvSpPr>
          <p:cNvPr id="22" name="Footer Placeholder 21"/>
          <p:cNvSpPr>
            <a:spLocks noGrp="1"/>
          </p:cNvSpPr>
          <p:nvPr>
            <p:ph type="ftr" sz="quarter" idx="3"/>
          </p:nvPr>
        </p:nvSpPr>
        <p:spPr>
          <a:xfrm>
            <a:off x="3556000" y="6356351"/>
            <a:ext cx="44704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a:p>
        </p:txBody>
      </p:sp>
      <p:sp>
        <p:nvSpPr>
          <p:cNvPr id="18" name="Slide Number Placeholder 17"/>
          <p:cNvSpPr>
            <a:spLocks noGrp="1"/>
          </p:cNvSpPr>
          <p:nvPr>
            <p:ph type="sldNum" sz="quarter" idx="4"/>
          </p:nvPr>
        </p:nvSpPr>
        <p:spPr>
          <a:xfrm>
            <a:off x="10566400" y="6356351"/>
            <a:ext cx="1016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grpSp>
        <p:nvGrpSpPr>
          <p:cNvPr id="2" name="Group 1"/>
          <p:cNvGrpSpPr/>
          <p:nvPr/>
        </p:nvGrpSpPr>
        <p:grpSpPr>
          <a:xfrm>
            <a:off x="-25356" y="202408"/>
            <a:ext cx="12240731"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4.jpeg"/><Relationship Id="rId4" Type="http://schemas.openxmlformats.org/officeDocument/2006/relationships/image" Target="../media/image3.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pic>
        <p:nvPicPr>
          <p:cNvPr id="101" name="Google Shape;101;p1"/>
          <p:cNvPicPr preferRelativeResize="0"/>
          <p:nvPr/>
        </p:nvPicPr>
        <p:blipFill rotWithShape="1">
          <a:blip r:embed="rId3"/>
          <a:srcRect t="1539" b="-1539"/>
          <a:stretch>
            <a:fillRect/>
          </a:stretch>
        </p:blipFill>
        <p:spPr>
          <a:xfrm>
            <a:off x="0" y="6126480"/>
            <a:ext cx="12192000" cy="742950"/>
          </a:xfrm>
          <a:prstGeom prst="rect">
            <a:avLst/>
          </a:prstGeom>
          <a:noFill/>
          <a:ln>
            <a:noFill/>
          </a:ln>
        </p:spPr>
      </p:pic>
      <p:cxnSp>
        <p:nvCxnSpPr>
          <p:cNvPr id="102" name="Google Shape;102;p1"/>
          <p:cNvCxnSpPr/>
          <p:nvPr/>
        </p:nvCxnSpPr>
        <p:spPr>
          <a:xfrm>
            <a:off x="0" y="6128413"/>
            <a:ext cx="12192000" cy="0"/>
          </a:xfrm>
          <a:prstGeom prst="straightConnector1">
            <a:avLst/>
          </a:prstGeom>
          <a:noFill/>
          <a:ln w="12700" cap="flat" cmpd="sng">
            <a:solidFill>
              <a:srgbClr val="000001">
                <a:alpha val="20000"/>
              </a:srgbClr>
            </a:solidFill>
            <a:prstDash val="solid"/>
            <a:round/>
            <a:headEnd type="none" w="sm" len="sm"/>
            <a:tailEnd type="none" w="sm" len="sm"/>
          </a:ln>
        </p:spPr>
      </p:cxnSp>
      <p:cxnSp>
        <p:nvCxnSpPr>
          <p:cNvPr id="103" name="Google Shape;103;p1"/>
          <p:cNvCxnSpPr/>
          <p:nvPr/>
        </p:nvCxnSpPr>
        <p:spPr>
          <a:xfrm>
            <a:off x="1461977" y="2516188"/>
            <a:ext cx="9677400" cy="1588"/>
          </a:xfrm>
          <a:prstGeom prst="straightConnector1">
            <a:avLst/>
          </a:prstGeom>
          <a:noFill/>
          <a:ln w="31750" cap="flat" cmpd="sng">
            <a:solidFill>
              <a:schemeClr val="accent1"/>
            </a:solidFill>
            <a:prstDash val="solid"/>
            <a:round/>
            <a:headEnd type="none" w="sm" len="sm"/>
            <a:tailEnd type="none" w="sm" len="sm"/>
          </a:ln>
        </p:spPr>
      </p:cxnSp>
      <p:sp>
        <p:nvSpPr>
          <p:cNvPr id="20" name="Title 19"/>
          <p:cNvSpPr>
            <a:spLocks noGrp="1"/>
          </p:cNvSpPr>
          <p:nvPr>
            <p:ph type="title"/>
          </p:nvPr>
        </p:nvSpPr>
        <p:spPr/>
        <p:txBody>
          <a:bodyPr>
            <a:normAutofit/>
          </a:bodyPr>
          <a:lstStyle/>
          <a:p>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SSPM’s College of Engineering.  </a:t>
            </a:r>
            <a:r>
              <a:rPr lang="en-US" sz="28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Kankavali</a:t>
            </a:r>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800" b="1" dirty="0" err="1">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Sindhudurg</a:t>
            </a:r>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r>
            <a:b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r>
              <a:rPr lang="en-US" sz="2800" b="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Department Of Electrical Engineering.</a:t>
            </a:r>
          </a:p>
        </p:txBody>
      </p:sp>
      <p:sp>
        <p:nvSpPr>
          <p:cNvPr id="113" name="Google Shape;113;p1"/>
          <p:cNvSpPr txBox="1">
            <a:spLocks noGrp="1"/>
          </p:cNvSpPr>
          <p:nvPr>
            <p:ph idx="1"/>
          </p:nvPr>
        </p:nvSpPr>
        <p:spPr>
          <a:xfrm>
            <a:off x="3200400" y="3655178"/>
            <a:ext cx="7390765" cy="1981200"/>
          </a:xfrm>
          <a:prstGeom prst="rect">
            <a:avLst/>
          </a:prstGeom>
          <a:noFill/>
          <a:ln>
            <a:noFill/>
          </a:ln>
        </p:spPr>
        <p:txBody>
          <a:bodyPr spcFirstLastPara="1" wrap="square" lIns="91425" tIns="45700" rIns="91425" bIns="45700" anchor="t" anchorCtr="0">
            <a:noAutofit/>
          </a:bodyPr>
          <a:lstStyle/>
          <a:p>
            <a:pPr marL="342900" lvl="0" indent="-228600">
              <a:spcBef>
                <a:spcPts val="0"/>
              </a:spcBef>
            </a:pPr>
            <a:r>
              <a:rPr lang="en-US" altLang="en-IN" b="1" dirty="0" err="1" smtClean="0">
                <a:latin typeface="Times New Roman" panose="02020603050405020304" pitchFamily="18" charset="0"/>
                <a:cs typeface="Times New Roman" panose="02020603050405020304" pitchFamily="18" charset="0"/>
              </a:rPr>
              <a:t>Tanuja</a:t>
            </a:r>
            <a:r>
              <a:rPr lang="en-US" altLang="en-IN" b="1" dirty="0" smtClean="0">
                <a:latin typeface="Times New Roman" panose="02020603050405020304" pitchFamily="18" charset="0"/>
                <a:cs typeface="Times New Roman" panose="02020603050405020304" pitchFamily="18" charset="0"/>
              </a:rPr>
              <a:t> </a:t>
            </a:r>
            <a:r>
              <a:rPr lang="en-US" altLang="en-IN" b="1" dirty="0" err="1" smtClean="0">
                <a:latin typeface="Times New Roman" panose="02020603050405020304" pitchFamily="18" charset="0"/>
                <a:cs typeface="Times New Roman" panose="02020603050405020304" pitchFamily="18" charset="0"/>
              </a:rPr>
              <a:t>ganpat</a:t>
            </a:r>
            <a:r>
              <a:rPr lang="en-US" altLang="en-IN" b="1" dirty="0" smtClean="0">
                <a:latin typeface="Times New Roman" panose="02020603050405020304" pitchFamily="18" charset="0"/>
                <a:cs typeface="Times New Roman" panose="02020603050405020304" pitchFamily="18" charset="0"/>
              </a:rPr>
              <a:t> </a:t>
            </a:r>
            <a:r>
              <a:rPr lang="en-US" altLang="en-IN" b="1" dirty="0" err="1" smtClean="0">
                <a:latin typeface="Times New Roman" panose="02020603050405020304" pitchFamily="18" charset="0"/>
                <a:cs typeface="Times New Roman" panose="02020603050405020304" pitchFamily="18" charset="0"/>
              </a:rPr>
              <a:t>rane</a:t>
            </a:r>
            <a:r>
              <a:rPr lang="en-US" altLang="en-IN" b="1" dirty="0" smtClean="0">
                <a:latin typeface="Times New Roman" panose="02020603050405020304" pitchFamily="18" charset="0"/>
                <a:cs typeface="Times New Roman" panose="02020603050405020304" pitchFamily="18" charset="0"/>
              </a:rPr>
              <a:t>          </a:t>
            </a:r>
            <a:r>
              <a:rPr lang="en-US" altLang="en-IN" b="1" dirty="0" smtClean="0">
                <a:latin typeface="Times New Roman" panose="02020603050405020304" pitchFamily="18" charset="0"/>
                <a:cs typeface="Times New Roman" panose="02020603050405020304" pitchFamily="18" charset="0"/>
              </a:rPr>
              <a:t>  </a:t>
            </a:r>
            <a:r>
              <a:rPr lang="en-IN" b="1" dirty="0" smtClean="0">
                <a:latin typeface="Times New Roman" panose="02020603050405020304" pitchFamily="18" charset="0"/>
                <a:cs typeface="Times New Roman" panose="02020603050405020304" pitchFamily="18" charset="0"/>
              </a:rPr>
              <a:t>     (</a:t>
            </a:r>
            <a:r>
              <a:rPr lang="en-IN" b="1" dirty="0" smtClean="0">
                <a:latin typeface="Times New Roman" panose="02020603050405020304" pitchFamily="18" charset="0"/>
                <a:cs typeface="Times New Roman" panose="02020603050405020304" pitchFamily="18" charset="0"/>
              </a:rPr>
              <a:t>44</a:t>
            </a:r>
            <a:r>
              <a:rPr lang="en-IN" b="1" dirty="0" smtClean="0">
                <a:latin typeface="Times New Roman" panose="02020603050405020304" pitchFamily="18" charset="0"/>
                <a:cs typeface="Times New Roman" panose="02020603050405020304" pitchFamily="18" charset="0"/>
              </a:rPr>
              <a:t>)</a:t>
            </a:r>
            <a:endParaRPr lang="en-IN" b="1" dirty="0">
              <a:latin typeface="Times New Roman" panose="02020603050405020304" pitchFamily="18" charset="0"/>
              <a:cs typeface="Times New Roman" panose="02020603050405020304" pitchFamily="18" charset="0"/>
            </a:endParaRPr>
          </a:p>
          <a:p>
            <a:pPr marL="342900" lvl="0" indent="-228600">
              <a:spcBef>
                <a:spcPts val="0"/>
              </a:spcBef>
            </a:pPr>
            <a:r>
              <a:rPr lang="en-US" altLang="en-IN" b="1" dirty="0" err="1" smtClean="0">
                <a:latin typeface="Times New Roman" panose="02020603050405020304" pitchFamily="18" charset="0"/>
                <a:cs typeface="Times New Roman" panose="02020603050405020304" pitchFamily="18" charset="0"/>
              </a:rPr>
              <a:t>Sampada</a:t>
            </a:r>
            <a:r>
              <a:rPr lang="en-US" altLang="en-IN" b="1" dirty="0" smtClean="0">
                <a:latin typeface="Times New Roman" panose="02020603050405020304" pitchFamily="18" charset="0"/>
                <a:cs typeface="Times New Roman" panose="02020603050405020304" pitchFamily="18" charset="0"/>
              </a:rPr>
              <a:t> </a:t>
            </a:r>
            <a:r>
              <a:rPr lang="en-US" altLang="en-IN" b="1" dirty="0" err="1" smtClean="0">
                <a:latin typeface="Times New Roman" panose="02020603050405020304" pitchFamily="18" charset="0"/>
                <a:cs typeface="Times New Roman" panose="02020603050405020304" pitchFamily="18" charset="0"/>
              </a:rPr>
              <a:t>makarand</a:t>
            </a:r>
            <a:r>
              <a:rPr lang="en-US" altLang="en-IN" b="1" dirty="0" smtClean="0">
                <a:latin typeface="Times New Roman" panose="02020603050405020304" pitchFamily="18" charset="0"/>
                <a:cs typeface="Times New Roman" panose="02020603050405020304" pitchFamily="18" charset="0"/>
              </a:rPr>
              <a:t> </a:t>
            </a:r>
            <a:r>
              <a:rPr lang="en-US" altLang="en-IN" b="1" dirty="0" err="1" smtClean="0">
                <a:latin typeface="Times New Roman" panose="02020603050405020304" pitchFamily="18" charset="0"/>
                <a:cs typeface="Times New Roman" panose="02020603050405020304" pitchFamily="18" charset="0"/>
              </a:rPr>
              <a:t>parab</a:t>
            </a:r>
            <a:r>
              <a:rPr lang="en-US" altLang="en-IN" b="1" dirty="0" smtClean="0">
                <a:latin typeface="Times New Roman" panose="02020603050405020304" pitchFamily="18" charset="0"/>
                <a:cs typeface="Times New Roman" panose="02020603050405020304" pitchFamily="18" charset="0"/>
              </a:rPr>
              <a:t>     </a:t>
            </a:r>
            <a:r>
              <a:rPr lang="en-IN" b="1" dirty="0" smtClean="0">
                <a:latin typeface="Times New Roman" panose="02020603050405020304" pitchFamily="18" charset="0"/>
                <a:cs typeface="Times New Roman" panose="02020603050405020304" pitchFamily="18" charset="0"/>
              </a:rPr>
              <a:t>(</a:t>
            </a:r>
            <a:r>
              <a:rPr lang="en-IN" b="1" dirty="0" smtClean="0">
                <a:latin typeface="Times New Roman" panose="02020603050405020304" pitchFamily="18" charset="0"/>
                <a:cs typeface="Times New Roman" panose="02020603050405020304" pitchFamily="18" charset="0"/>
              </a:rPr>
              <a:t>39</a:t>
            </a:r>
            <a:r>
              <a:rPr lang="en-IN" b="1" dirty="0" smtClean="0">
                <a:latin typeface="Times New Roman" panose="02020603050405020304" pitchFamily="18" charset="0"/>
                <a:cs typeface="Times New Roman" panose="02020603050405020304" pitchFamily="18" charset="0"/>
              </a:rPr>
              <a:t>)</a:t>
            </a:r>
            <a:endParaRPr lang="en-IN" b="1" dirty="0">
              <a:latin typeface="Times New Roman" panose="02020603050405020304" pitchFamily="18" charset="0"/>
              <a:cs typeface="Times New Roman" panose="02020603050405020304" pitchFamily="18" charset="0"/>
            </a:endParaRPr>
          </a:p>
          <a:p>
            <a:pPr marL="342900" lvl="0" indent="-228600">
              <a:spcBef>
                <a:spcPts val="0"/>
              </a:spcBef>
            </a:pPr>
            <a:r>
              <a:rPr lang="en-US" altLang="en-IN" b="1" dirty="0" smtClean="0">
                <a:latin typeface="Times New Roman" panose="02020603050405020304" pitchFamily="18" charset="0"/>
                <a:cs typeface="Times New Roman" panose="02020603050405020304" pitchFamily="18" charset="0"/>
              </a:rPr>
              <a:t>Pratik  </a:t>
            </a:r>
            <a:r>
              <a:rPr lang="en-US" altLang="en-IN" b="1" dirty="0" err="1" smtClean="0">
                <a:latin typeface="Times New Roman" panose="02020603050405020304" pitchFamily="18" charset="0"/>
                <a:cs typeface="Times New Roman" panose="02020603050405020304" pitchFamily="18" charset="0"/>
              </a:rPr>
              <a:t>vilas</a:t>
            </a:r>
            <a:r>
              <a:rPr lang="en-US" altLang="en-IN" b="1" dirty="0" smtClean="0">
                <a:latin typeface="Times New Roman" panose="02020603050405020304" pitchFamily="18" charset="0"/>
                <a:cs typeface="Times New Roman" panose="02020603050405020304" pitchFamily="18" charset="0"/>
              </a:rPr>
              <a:t> </a:t>
            </a:r>
            <a:r>
              <a:rPr lang="en-US" altLang="en-IN" b="1" dirty="0" err="1" smtClean="0">
                <a:latin typeface="Times New Roman" panose="02020603050405020304" pitchFamily="18" charset="0"/>
                <a:cs typeface="Times New Roman" panose="02020603050405020304" pitchFamily="18" charset="0"/>
              </a:rPr>
              <a:t>chavan</a:t>
            </a:r>
            <a:r>
              <a:rPr lang="en-US" altLang="en-IN" b="1" dirty="0" smtClean="0">
                <a:latin typeface="Times New Roman" panose="02020603050405020304" pitchFamily="18" charset="0"/>
                <a:cs typeface="Times New Roman" panose="02020603050405020304" pitchFamily="18" charset="0"/>
              </a:rPr>
              <a:t>                  (7</a:t>
            </a:r>
            <a:r>
              <a:rPr lang="en-IN" b="1" dirty="0" smtClean="0">
                <a:latin typeface="Times New Roman" panose="02020603050405020304" pitchFamily="18" charset="0"/>
                <a:cs typeface="Times New Roman" panose="02020603050405020304" pitchFamily="18" charset="0"/>
              </a:rPr>
              <a:t>)</a:t>
            </a:r>
            <a:endParaRPr lang="en-IN" b="1" dirty="0">
              <a:latin typeface="Times New Roman" panose="02020603050405020304" pitchFamily="18" charset="0"/>
              <a:cs typeface="Times New Roman" panose="02020603050405020304" pitchFamily="18" charset="0"/>
            </a:endParaRPr>
          </a:p>
          <a:p>
            <a:pPr marL="342900" lvl="0" indent="-228600" rtl="0">
              <a:lnSpc>
                <a:spcPct val="120000"/>
              </a:lnSpc>
              <a:spcBef>
                <a:spcPts val="0"/>
              </a:spcBef>
              <a:spcAft>
                <a:spcPts val="0"/>
              </a:spcAft>
              <a:buSzPts val="1800"/>
              <a:buFont typeface="Arial" panose="020B0604020202020204"/>
              <a:buChar char="•"/>
            </a:pPr>
            <a:r>
              <a:rPr lang="en-US" altLang="en-IN" b="1" dirty="0" smtClean="0">
                <a:latin typeface="Times New Roman" panose="02020603050405020304" pitchFamily="18" charset="0"/>
                <a:cs typeface="Times New Roman" panose="02020603050405020304" pitchFamily="18" charset="0"/>
              </a:rPr>
              <a:t>Karina  </a:t>
            </a:r>
            <a:r>
              <a:rPr lang="en-US" altLang="en-IN" b="1" dirty="0" err="1" smtClean="0">
                <a:latin typeface="Times New Roman" panose="02020603050405020304" pitchFamily="18" charset="0"/>
                <a:cs typeface="Times New Roman" panose="02020603050405020304" pitchFamily="18" charset="0"/>
              </a:rPr>
              <a:t>sunil</a:t>
            </a:r>
            <a:r>
              <a:rPr lang="en-US" altLang="en-IN" b="1" dirty="0" smtClean="0">
                <a:latin typeface="Times New Roman" panose="02020603050405020304" pitchFamily="18" charset="0"/>
                <a:cs typeface="Times New Roman" panose="02020603050405020304" pitchFamily="18" charset="0"/>
              </a:rPr>
              <a:t>  </a:t>
            </a:r>
            <a:r>
              <a:rPr lang="en-US" altLang="en-IN" b="1" dirty="0" err="1" smtClean="0">
                <a:latin typeface="Times New Roman" panose="02020603050405020304" pitchFamily="18" charset="0"/>
                <a:cs typeface="Times New Roman" panose="02020603050405020304" pitchFamily="18" charset="0"/>
              </a:rPr>
              <a:t>kubal</a:t>
            </a:r>
            <a:r>
              <a:rPr lang="en-US" altLang="en-IN" b="1" dirty="0" smtClean="0">
                <a:latin typeface="Times New Roman" panose="02020603050405020304" pitchFamily="18" charset="0"/>
                <a:cs typeface="Times New Roman" panose="02020603050405020304" pitchFamily="18" charset="0"/>
              </a:rPr>
              <a:t>            </a:t>
            </a:r>
            <a:r>
              <a:rPr lang="en-IN" b="1" dirty="0" smtClean="0">
                <a:latin typeface="Times New Roman" panose="02020603050405020304" pitchFamily="18" charset="0"/>
                <a:cs typeface="Times New Roman" panose="02020603050405020304" pitchFamily="18" charset="0"/>
              </a:rPr>
              <a:t>     (</a:t>
            </a:r>
            <a:r>
              <a:rPr lang="en-US" b="1" dirty="0" smtClean="0">
                <a:latin typeface="Times New Roman" panose="02020603050405020304" pitchFamily="18" charset="0"/>
                <a:cs typeface="Times New Roman" panose="02020603050405020304" pitchFamily="18" charset="0"/>
              </a:rPr>
              <a:t>22</a:t>
            </a:r>
            <a:r>
              <a:rPr lang="en-IN" b="1" dirty="0" smtClean="0">
                <a:latin typeface="Times New Roman" panose="02020603050405020304" pitchFamily="18" charset="0"/>
                <a:cs typeface="Times New Roman" panose="02020603050405020304" pitchFamily="18" charset="0"/>
              </a:rPr>
              <a:t>)</a:t>
            </a:r>
          </a:p>
          <a:p>
            <a:pPr marL="0" lvl="0" indent="114300" algn="ctr" rtl="0">
              <a:lnSpc>
                <a:spcPct val="120000"/>
              </a:lnSpc>
              <a:spcBef>
                <a:spcPts val="1000"/>
              </a:spcBef>
              <a:spcAft>
                <a:spcPts val="0"/>
              </a:spcAft>
              <a:buSzPts val="1800"/>
              <a:buFont typeface="Arial" panose="020B0604020202020204"/>
              <a:buNone/>
            </a:pPr>
            <a:r>
              <a:rPr lang="en-US" dirty="0" smtClean="0"/>
              <a:t>    </a:t>
            </a:r>
            <a:endParaRPr lang="en-US" dirty="0"/>
          </a:p>
          <a:p>
            <a:pPr marL="0" lvl="0" indent="114300" algn="just" rtl="0">
              <a:lnSpc>
                <a:spcPct val="120000"/>
              </a:lnSpc>
              <a:spcBef>
                <a:spcPts val="1000"/>
              </a:spcBef>
              <a:spcAft>
                <a:spcPts val="0"/>
              </a:spcAft>
              <a:buSzPts val="1800"/>
              <a:buFont typeface="Arial" panose="020B0604020202020204"/>
              <a:buNone/>
            </a:pPr>
            <a:endParaRPr lang="en-US" dirty="0"/>
          </a:p>
        </p:txBody>
      </p:sp>
      <p:sp>
        <p:nvSpPr>
          <p:cNvPr id="27" name="Date Placeholder 26"/>
          <p:cNvSpPr>
            <a:spLocks noGrp="1"/>
          </p:cNvSpPr>
          <p:nvPr>
            <p:ph type="dt" sz="half" idx="10"/>
          </p:nvPr>
        </p:nvSpPr>
        <p:spPr>
          <a:xfrm>
            <a:off x="228599" y="5791200"/>
            <a:ext cx="914401" cy="309201"/>
          </a:xfrm>
        </p:spPr>
        <p:txBody>
          <a:bodyPr/>
          <a:lstStyle/>
          <a:p>
            <a:fld id="{A019CB03-54E8-4A8A-BD12-D9B7D1BF0487}" type="datetime1">
              <a:rPr lang="en-US" sz="1400" b="1" smtClean="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9/12/2025</a:t>
            </a:fld>
            <a:endParaRPr lang="en-US" sz="1400" b="1" dirty="0">
              <a:solidFill>
                <a:srgbClr val="FF0000"/>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8" name="Slide Number Placeholder 27"/>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a:t>
            </a:fld>
            <a:endParaRPr lang="en-US"/>
          </a:p>
        </p:txBody>
      </p:sp>
      <p:pic>
        <p:nvPicPr>
          <p:cNvPr id="114" name="Google Shape;114;p1"/>
          <p:cNvPicPr preferRelativeResize="0"/>
          <p:nvPr/>
        </p:nvPicPr>
        <p:blipFill rotWithShape="1">
          <a:blip r:embed="rId3"/>
          <a:srcRect t="1539" b="-1539"/>
          <a:stretch>
            <a:fillRect/>
          </a:stretch>
        </p:blipFill>
        <p:spPr>
          <a:xfrm>
            <a:off x="0" y="6126480"/>
            <a:ext cx="12192000" cy="742950"/>
          </a:xfrm>
          <a:prstGeom prst="rect">
            <a:avLst/>
          </a:prstGeom>
          <a:noFill/>
          <a:ln>
            <a:noFill/>
          </a:ln>
        </p:spPr>
      </p:pic>
      <p:cxnSp>
        <p:nvCxnSpPr>
          <p:cNvPr id="115" name="Google Shape;115;p1"/>
          <p:cNvCxnSpPr/>
          <p:nvPr/>
        </p:nvCxnSpPr>
        <p:spPr>
          <a:xfrm>
            <a:off x="0" y="6128413"/>
            <a:ext cx="12192000" cy="0"/>
          </a:xfrm>
          <a:prstGeom prst="straightConnector1">
            <a:avLst/>
          </a:prstGeom>
          <a:noFill/>
          <a:ln w="12700" cap="flat" cmpd="sng">
            <a:solidFill>
              <a:srgbClr val="000001">
                <a:alpha val="20000"/>
              </a:srgbClr>
            </a:solidFill>
            <a:prstDash val="solid"/>
            <a:round/>
            <a:headEnd type="none" w="sm" len="sm"/>
            <a:tailEnd type="none" w="sm" len="sm"/>
          </a:ln>
        </p:spPr>
      </p:cxnSp>
      <p:sp>
        <p:nvSpPr>
          <p:cNvPr id="15" name="TextBox 14"/>
          <p:cNvSpPr txBox="1"/>
          <p:nvPr/>
        </p:nvSpPr>
        <p:spPr>
          <a:xfrm>
            <a:off x="1576277" y="2743200"/>
            <a:ext cx="4724400" cy="707886"/>
          </a:xfrm>
          <a:prstGeom prst="rect">
            <a:avLst/>
          </a:prstGeom>
          <a:noFill/>
        </p:spPr>
        <p:txBody>
          <a:bodyPr wrap="square" rtlCol="0">
            <a:spAutoFit/>
          </a:bodyPr>
          <a:lstStyle/>
          <a:p>
            <a:r>
              <a:rPr lang="en-US" sz="2000" b="1" dirty="0">
                <a:latin typeface="Times New Roman" panose="02020603050405020304" pitchFamily="18" charset="0"/>
                <a:cs typeface="Times New Roman" panose="02020603050405020304" pitchFamily="18" charset="0"/>
              </a:rPr>
              <a:t>Presented by</a:t>
            </a:r>
          </a:p>
          <a:p>
            <a:r>
              <a:rPr lang="en-US" sz="2000" b="1" dirty="0" smtClean="0">
                <a:latin typeface="Times New Roman" panose="02020603050405020304" pitchFamily="18" charset="0"/>
                <a:cs typeface="Times New Roman" panose="02020603050405020304" pitchFamily="18" charset="0"/>
              </a:rPr>
              <a:t>BE Electrical </a:t>
            </a:r>
            <a:r>
              <a:rPr lang="en-US" sz="2000" b="1" dirty="0">
                <a:latin typeface="Times New Roman" panose="02020603050405020304" pitchFamily="18" charset="0"/>
                <a:cs typeface="Times New Roman" panose="02020603050405020304" pitchFamily="18" charset="0"/>
              </a:rPr>
              <a:t>2024-25   Course-MP-2B</a:t>
            </a:r>
          </a:p>
        </p:txBody>
      </p:sp>
      <p:sp>
        <p:nvSpPr>
          <p:cNvPr id="16" name="TextBox 15"/>
          <p:cNvSpPr txBox="1"/>
          <p:nvPr/>
        </p:nvSpPr>
        <p:spPr>
          <a:xfrm>
            <a:off x="7467600" y="5334000"/>
            <a:ext cx="4114800" cy="675640"/>
          </a:xfrm>
          <a:prstGeom prst="rect">
            <a:avLst/>
          </a:prstGeom>
          <a:noFill/>
        </p:spPr>
        <p:txBody>
          <a:bodyPr wrap="square" rtlCol="0">
            <a:spAutoFit/>
          </a:bodyPr>
          <a:lstStyle/>
          <a:p>
            <a:r>
              <a:rPr lang="en-US" sz="1800" b="1" dirty="0">
                <a:latin typeface="Times New Roman" panose="02020603050405020304" pitchFamily="18" charset="0"/>
                <a:cs typeface="Times New Roman" panose="02020603050405020304" pitchFamily="18" charset="0"/>
              </a:rPr>
              <a:t>Under the Guidance of </a:t>
            </a:r>
          </a:p>
          <a:p>
            <a:r>
              <a:rPr lang="en-US" sz="2000" b="1" dirty="0">
                <a:latin typeface="Times New Roman" panose="02020603050405020304" pitchFamily="18" charset="0"/>
                <a:cs typeface="Times New Roman" panose="02020603050405020304" pitchFamily="18" charset="0"/>
              </a:rPr>
              <a:t>Prof. </a:t>
            </a:r>
            <a:r>
              <a:rPr lang="en-US" sz="2000" b="1" dirty="0" smtClean="0">
                <a:latin typeface="Times New Roman" panose="02020603050405020304" pitchFamily="18" charset="0"/>
                <a:cs typeface="Times New Roman" panose="02020603050405020304" pitchFamily="18" charset="0"/>
              </a:rPr>
              <a:t>v .v .</a:t>
            </a:r>
            <a:r>
              <a:rPr lang="en-US" sz="2000" b="1" dirty="0" err="1" smtClean="0">
                <a:latin typeface="Times New Roman" panose="02020603050405020304" pitchFamily="18" charset="0"/>
                <a:cs typeface="Times New Roman" panose="02020603050405020304" pitchFamily="18" charset="0"/>
              </a:rPr>
              <a:t>sawant</a:t>
            </a:r>
            <a:endParaRPr lang="en-US" sz="2000" b="1" dirty="0">
              <a:latin typeface="Times New Roman" panose="02020603050405020304" pitchFamily="18" charset="0"/>
              <a:cs typeface="Times New Roman" panose="02020603050405020304" pitchFamily="18" charset="0"/>
            </a:endParaRPr>
          </a:p>
        </p:txBody>
      </p:sp>
      <p:pic>
        <p:nvPicPr>
          <p:cNvPr id="13314" name="Picture 2" descr="Chairman's Message"/>
          <p:cNvPicPr>
            <a:picLocks noChangeAspect="1" noChangeArrowheads="1"/>
          </p:cNvPicPr>
          <p:nvPr/>
        </p:nvPicPr>
        <p:blipFill>
          <a:blip r:embed="rId4"/>
          <a:srcRect/>
          <a:stretch>
            <a:fillRect/>
          </a:stretch>
        </p:blipFill>
        <p:spPr bwMode="auto">
          <a:xfrm>
            <a:off x="152400" y="533400"/>
            <a:ext cx="1295399" cy="1295400"/>
          </a:xfrm>
          <a:prstGeom prst="rect">
            <a:avLst/>
          </a:prstGeom>
          <a:noFill/>
        </p:spPr>
      </p:pic>
      <p:pic>
        <p:nvPicPr>
          <p:cNvPr id="13316" name="Picture 4" descr="Aims &amp; Objectives"/>
          <p:cNvPicPr>
            <a:picLocks noChangeAspect="1" noChangeArrowheads="1"/>
          </p:cNvPicPr>
          <p:nvPr/>
        </p:nvPicPr>
        <p:blipFill>
          <a:blip r:embed="rId5"/>
          <a:srcRect/>
          <a:stretch>
            <a:fillRect/>
          </a:stretch>
        </p:blipFill>
        <p:spPr bwMode="auto">
          <a:xfrm>
            <a:off x="10439400" y="685800"/>
            <a:ext cx="1333500" cy="1057276"/>
          </a:xfrm>
          <a:prstGeom prst="rect">
            <a:avLst/>
          </a:prstGeom>
          <a:noFill/>
        </p:spPr>
      </p:pic>
      <p:sp>
        <p:nvSpPr>
          <p:cNvPr id="23" name="TextBox 22"/>
          <p:cNvSpPr txBox="1"/>
          <p:nvPr/>
        </p:nvSpPr>
        <p:spPr>
          <a:xfrm>
            <a:off x="1547037" y="1908384"/>
            <a:ext cx="9144000" cy="400110"/>
          </a:xfrm>
          <a:prstGeom prst="rect">
            <a:avLst/>
          </a:prstGeom>
          <a:noFill/>
        </p:spPr>
        <p:txBody>
          <a:bodyPr wrap="square" rtlCol="0">
            <a:spAutoFit/>
          </a:bodyPr>
          <a:lstStyle/>
          <a:p>
            <a:r>
              <a:rPr lang="en-US" sz="2000" b="1" dirty="0" smtClean="0">
                <a:latin typeface="Times New Roman" panose="02020603050405020304" pitchFamily="18" charset="0"/>
                <a:cs typeface="Times New Roman" panose="02020603050405020304" pitchFamily="18" charset="0"/>
              </a:rPr>
              <a:t>Hydroponic monitoring and </a:t>
            </a:r>
            <a:r>
              <a:rPr lang="en-US" sz="2000" b="1" dirty="0" err="1" smtClean="0">
                <a:latin typeface="Times New Roman" panose="02020603050405020304" pitchFamily="18" charset="0"/>
                <a:cs typeface="Times New Roman" panose="02020603050405020304" pitchFamily="18" charset="0"/>
              </a:rPr>
              <a:t>contol</a:t>
            </a:r>
            <a:r>
              <a:rPr lang="en-US" sz="2000" b="1" dirty="0" smtClean="0">
                <a:latin typeface="Times New Roman" panose="02020603050405020304" pitchFamily="18" charset="0"/>
                <a:cs typeface="Times New Roman" panose="02020603050405020304" pitchFamily="18" charset="0"/>
              </a:rPr>
              <a:t> system for sustainable food production </a:t>
            </a:r>
            <a:endParaRPr lang="en-US" sz="2000" b="1" dirty="0">
              <a:latin typeface="Times New Roman" panose="02020603050405020304" pitchFamily="18" charset="0"/>
              <a:cs typeface="Times New Roman" panose="02020603050405020304" pitchFamily="18" charset="0"/>
            </a:endParaRPr>
          </a:p>
        </p:txBody>
      </p:sp>
      <p:sp>
        <p:nvSpPr>
          <p:cNvPr id="13318" name="AutoShape 6" descr="Solar Energy Project Ideas List for Final Year Engineering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en-US"/>
          </a:p>
        </p:txBody>
      </p:sp>
      <p:sp>
        <p:nvSpPr>
          <p:cNvPr id="13320" name="AutoShape 8" descr="Solar Energy Project Ideas List for Final Year Engineering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
          <p:cNvSpPr txBox="1">
            <a:spLocks noGrp="1"/>
          </p:cNvSpPr>
          <p:nvPr>
            <p:ph type="title"/>
          </p:nvPr>
        </p:nvSpPr>
        <p:spPr>
          <a:xfrm>
            <a:off x="1451579" y="804519"/>
            <a:ext cx="9603300" cy="9906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panose="020B0502020104020203"/>
              <a:buNone/>
            </a:pPr>
            <a:r>
              <a:rPr lang="en-IN" b="1" dirty="0">
                <a:latin typeface="Times New Roman" panose="02020603050405020304" pitchFamily="18" charset="0"/>
                <a:cs typeface="Times New Roman" panose="02020603050405020304" pitchFamily="18" charset="0"/>
              </a:rPr>
              <a:t>Abstract</a:t>
            </a:r>
            <a:endParaRPr b="1" dirty="0">
              <a:latin typeface="Times New Roman" panose="02020603050405020304" pitchFamily="18" charset="0"/>
              <a:cs typeface="Times New Roman" panose="02020603050405020304" pitchFamily="18" charset="0"/>
            </a:endParaRPr>
          </a:p>
        </p:txBody>
      </p:sp>
      <p:sp>
        <p:nvSpPr>
          <p:cNvPr id="121" name="Google Shape;121;p2"/>
          <p:cNvSpPr txBox="1">
            <a:spLocks noGrp="1"/>
          </p:cNvSpPr>
          <p:nvPr>
            <p:ph idx="1"/>
          </p:nvPr>
        </p:nvSpPr>
        <p:spPr>
          <a:xfrm>
            <a:off x="1447800" y="2057400"/>
            <a:ext cx="9607550" cy="2895600"/>
          </a:xfrm>
          <a:prstGeom prst="rect">
            <a:avLst/>
          </a:prstGeom>
          <a:noFill/>
          <a:ln>
            <a:noFill/>
          </a:ln>
        </p:spPr>
        <p:txBody>
          <a:bodyPr spcFirstLastPara="1" wrap="square" lIns="91425" tIns="45700" rIns="91425" bIns="45700" anchor="t" anchorCtr="0">
            <a:noAutofit/>
          </a:bodyPr>
          <a:lstStyle/>
          <a:p>
            <a:pPr marL="0" lvl="0" indent="0" algn="just">
              <a:lnSpc>
                <a:spcPct val="120000"/>
              </a:lnSpc>
              <a:spcBef>
                <a:spcPts val="0"/>
              </a:spcBef>
              <a:buSzPts val="2000"/>
              <a:buNone/>
            </a:pPr>
            <a:endParaRPr lang="en-IN" altLang="en-US" sz="1900" dirty="0">
              <a:latin typeface="Times New Roman" panose="02020603050405020304" pitchFamily="18" charset="0"/>
              <a:cs typeface="Times New Roman" panose="02020603050405020304" pitchFamily="18" charset="0"/>
            </a:endParaRPr>
          </a:p>
          <a:p>
            <a:pPr marL="0" lvl="0" indent="0" algn="just">
              <a:lnSpc>
                <a:spcPct val="120000"/>
              </a:lnSpc>
              <a:spcBef>
                <a:spcPts val="0"/>
              </a:spcBef>
              <a:buSzPts val="2000"/>
              <a:buNone/>
            </a:pPr>
            <a:r>
              <a:rPr lang="en-IN" altLang="en-US" sz="1200" dirty="0" smtClean="0">
                <a:latin typeface="Times New Roman" panose="02020603050405020304" pitchFamily="18" charset="0"/>
                <a:cs typeface="Times New Roman" panose="02020603050405020304" pitchFamily="18" charset="0"/>
              </a:rPr>
              <a:t>This project presents the design and development of an </a:t>
            </a:r>
            <a:r>
              <a:rPr lang="en-IN" altLang="en-US" sz="1200" dirty="0" err="1" smtClean="0">
                <a:latin typeface="Times New Roman" panose="02020603050405020304" pitchFamily="18" charset="0"/>
                <a:cs typeface="Times New Roman" panose="02020603050405020304" pitchFamily="18" charset="0"/>
              </a:rPr>
              <a:t>IoT</a:t>
            </a:r>
            <a:r>
              <a:rPr lang="en-IN" altLang="en-US" sz="1200" dirty="0" smtClean="0">
                <a:latin typeface="Times New Roman" panose="02020603050405020304" pitchFamily="18" charset="0"/>
                <a:cs typeface="Times New Roman" panose="02020603050405020304" pitchFamily="18" charset="0"/>
              </a:rPr>
              <a:t>-based hydroponic monitoring and control system aimed at promoting sustainable food production. Hydroponics, a soilless farming technique, offers efficient use of water and nutrients, making it ideal for urban and resource-limited environments. By integrating </a:t>
            </a:r>
            <a:r>
              <a:rPr lang="en-IN" altLang="en-US" sz="1200" dirty="0" err="1" smtClean="0">
                <a:latin typeface="Times New Roman" panose="02020603050405020304" pitchFamily="18" charset="0"/>
                <a:cs typeface="Times New Roman" panose="02020603050405020304" pitchFamily="18" charset="0"/>
              </a:rPr>
              <a:t>IoT</a:t>
            </a:r>
            <a:r>
              <a:rPr lang="en-IN" altLang="en-US" sz="1200" dirty="0" smtClean="0">
                <a:latin typeface="Times New Roman" panose="02020603050405020304" pitchFamily="18" charset="0"/>
                <a:cs typeface="Times New Roman" panose="02020603050405020304" pitchFamily="18" charset="0"/>
              </a:rPr>
              <a:t> technologies, key environmental parameters such as pH, electrical conductivity (EC), temperature, humidity, and water level are continuously monitored using sensors. A microcontroller (e.g., </a:t>
            </a:r>
            <a:r>
              <a:rPr lang="en-IN" altLang="en-US" sz="1200" dirty="0" err="1" smtClean="0">
                <a:latin typeface="Times New Roman" panose="02020603050405020304" pitchFamily="18" charset="0"/>
                <a:cs typeface="Times New Roman" panose="02020603050405020304" pitchFamily="18" charset="0"/>
              </a:rPr>
              <a:t>Arduino</a:t>
            </a:r>
            <a:r>
              <a:rPr lang="en-IN" altLang="en-US" sz="1200" dirty="0" smtClean="0">
                <a:latin typeface="Times New Roman" panose="02020603050405020304" pitchFamily="18" charset="0"/>
                <a:cs typeface="Times New Roman" panose="02020603050405020304" pitchFamily="18" charset="0"/>
              </a:rPr>
              <a:t> or ESP32) processes the sensor data and triggers automated control actions—such as nutrient dosing, pH adjustment, and lighting control—based on </a:t>
            </a:r>
            <a:r>
              <a:rPr lang="en-IN" altLang="en-US" sz="1200" dirty="0">
                <a:latin typeface="Times New Roman" panose="02020603050405020304" pitchFamily="18" charset="0"/>
                <a:cs typeface="Times New Roman" panose="02020603050405020304" pitchFamily="18" charset="0"/>
              </a:rPr>
              <a:t>predefined thresholds or fuzzy logic algorithms. The system also features remote monitoring through a web or mobile dashboard, enabling real-time data access and control. The proposed solution reduces manual intervention, optimizes resource usage, and enhances crop yield and quality, thereby contributing to environmentally sustainable and technologically advanced </a:t>
            </a:r>
            <a:r>
              <a:rPr lang="en-IN" altLang="en-US" sz="1200" dirty="0" smtClean="0">
                <a:latin typeface="Times New Roman" panose="02020603050405020304" pitchFamily="18" charset="0"/>
                <a:cs typeface="Times New Roman" panose="02020603050405020304" pitchFamily="18" charset="0"/>
              </a:rPr>
              <a:t>agriculture</a:t>
            </a:r>
            <a:endParaRPr lang="en-IN" altLang="en-US" sz="1200" dirty="0">
              <a:latin typeface="Times New Roman" panose="02020603050405020304" pitchFamily="18" charset="0"/>
              <a:cs typeface="Times New Roman" panose="02020603050405020304" pitchFamily="18" charset="0"/>
            </a:endParaRPr>
          </a:p>
          <a:p>
            <a:pPr marL="0" lvl="0" indent="0" algn="just" rtl="0">
              <a:lnSpc>
                <a:spcPct val="120000"/>
              </a:lnSpc>
              <a:spcBef>
                <a:spcPts val="0"/>
              </a:spcBef>
              <a:spcAft>
                <a:spcPts val="0"/>
              </a:spcAft>
              <a:buSzPts val="2000"/>
              <a:buFont typeface="Wingdings" panose="05000000000000000000" charset="0"/>
              <a:buNone/>
            </a:pPr>
            <a:endParaRPr lang="en-US" altLang="en-US" sz="19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a:xfrm>
            <a:off x="152401" y="5791200"/>
            <a:ext cx="914399" cy="309201"/>
          </a:xfrm>
        </p:spPr>
        <p:txBody>
          <a:bodyPr/>
          <a:lstStyle/>
          <a:p>
            <a:fld id="{B9387537-A641-4ED1-8E3A-472CCC77C9A0}" type="datetime1">
              <a:rPr lang="en-US" sz="1400" smtClean="0">
                <a:solidFill>
                  <a:srgbClr val="FF0000"/>
                </a:solidFill>
                <a:latin typeface="Times New Roman" panose="02020603050405020304" pitchFamily="18" charset="0"/>
                <a:cs typeface="Times New Roman" panose="02020603050405020304" pitchFamily="18" charset="0"/>
              </a:rPr>
              <a:t>9/12/2025</a:t>
            </a:fld>
            <a:endParaRPr lang="en-US" sz="1400" dirty="0">
              <a:solidFill>
                <a:srgbClr val="FF000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solidFill>
                  <a:srgbClr val="FF0000"/>
                </a:solidFill>
                <a:latin typeface="Times New Roman" panose="02020603050405020304" pitchFamily="18" charset="0"/>
                <a:cs typeface="Times New Roman" panose="02020603050405020304" pitchFamily="18" charset="0"/>
              </a:rPr>
              <a:t>2</a:t>
            </a:fld>
            <a:endParaRPr lang="en-US" dirty="0">
              <a:solidFill>
                <a:srgbClr val="FF0000"/>
              </a:solidFill>
              <a:latin typeface="Times New Roman" panose="02020603050405020304" pitchFamily="18" charset="0"/>
              <a:cs typeface="Times New Roman" panose="02020603050405020304" pitchFamily="18" charset="0"/>
            </a:endParaRPr>
          </a:p>
        </p:txBody>
      </p:sp>
      <p:sp>
        <p:nvSpPr>
          <p:cNvPr id="7" name="Google Shape;121;p2"/>
          <p:cNvSpPr txBox="1"/>
          <p:nvPr/>
        </p:nvSpPr>
        <p:spPr>
          <a:xfrm>
            <a:off x="1447800" y="4798518"/>
            <a:ext cx="9603300" cy="990600"/>
          </a:xfrm>
          <a:prstGeom prst="rect">
            <a:avLst/>
          </a:prstGeom>
          <a:noFill/>
          <a:ln>
            <a:noFill/>
          </a:ln>
        </p:spPr>
        <p:txBody>
          <a:bodyPr spcFirstLastPara="1" wrap="square" lIns="91425" tIns="45700" rIns="91425" bIns="45700" anchor="t" anchorCtr="0">
            <a:normAutofit/>
          </a:bodyPr>
          <a:lstStyle/>
          <a:p>
            <a:pPr marL="0" marR="0" lvl="0" indent="0" algn="just" defTabSz="914400" rtl="0" eaLnBrk="1" fontAlgn="auto" latinLnBrk="0" hangingPunct="1">
              <a:lnSpc>
                <a:spcPct val="120000"/>
              </a:lnSpc>
              <a:spcBef>
                <a:spcPts val="0"/>
              </a:spcBef>
              <a:spcAft>
                <a:spcPts val="0"/>
              </a:spcAft>
              <a:buClr>
                <a:schemeClr val="accent1"/>
              </a:buClr>
              <a:buSzPts val="2000"/>
              <a:buFont typeface="Wingdings" panose="05000000000000000000" charset="0"/>
              <a:buNone/>
              <a:defRPr/>
            </a:pPr>
            <a:endParaRPr kumimoji="0" lang="en-US" altLang="en-US" sz="1800" b="0" u="none" strike="noStrike" kern="0" cap="none" spc="0" normalizeH="0" baseline="0" noProof="0" dirty="0">
              <a:ln>
                <a:noFill/>
              </a:ln>
              <a:solidFill>
                <a:schemeClr val="dk1"/>
              </a:solidFill>
              <a:effectLst/>
              <a:uLnTx/>
              <a:uFillTx/>
              <a:latin typeface="Times New Roman" panose="02020603050405020304" pitchFamily="18" charset="0"/>
              <a:ea typeface="Gill Sans" panose="020B0502020104020203"/>
              <a:cs typeface="Times New Roman" panose="02020603050405020304" pitchFamily="18" charset="0"/>
              <a:sym typeface="Gill Sans" panose="020B0502020104020203"/>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panose="020B0502020104020203"/>
              <a:buNone/>
            </a:pPr>
            <a:r>
              <a:rPr lang="en-IN" b="1" dirty="0">
                <a:latin typeface="Times New Roman" panose="02020603050405020304" pitchFamily="18" charset="0"/>
                <a:cs typeface="Times New Roman" panose="02020603050405020304" pitchFamily="18" charset="0"/>
              </a:rPr>
              <a:t>Introduction</a:t>
            </a:r>
            <a:endParaRPr b="1">
              <a:latin typeface="Times New Roman" panose="02020603050405020304" pitchFamily="18" charset="0"/>
              <a:cs typeface="Times New Roman" panose="02020603050405020304" pitchFamily="18" charset="0"/>
            </a:endParaRPr>
          </a:p>
        </p:txBody>
      </p:sp>
      <p:sp>
        <p:nvSpPr>
          <p:cNvPr id="121" name="Google Shape;121;p2"/>
          <p:cNvSpPr txBox="1">
            <a:spLocks noGrp="1"/>
          </p:cNvSpPr>
          <p:nvPr>
            <p:ph idx="1"/>
          </p:nvPr>
        </p:nvSpPr>
        <p:spPr>
          <a:xfrm>
            <a:off x="457200" y="914400"/>
            <a:ext cx="9607519" cy="3810000"/>
          </a:xfrm>
          <a:prstGeom prst="rect">
            <a:avLst/>
          </a:prstGeom>
          <a:noFill/>
          <a:ln>
            <a:noFill/>
          </a:ln>
        </p:spPr>
        <p:txBody>
          <a:bodyPr spcFirstLastPara="1" wrap="square" lIns="91425" tIns="45700" rIns="91425" bIns="45700" anchor="t" anchorCtr="0">
            <a:noAutofit/>
          </a:bodyPr>
          <a:lstStyle/>
          <a:p>
            <a:pPr marL="68580" indent="0" algn="just">
              <a:spcBef>
                <a:spcPts val="0"/>
              </a:spcBef>
              <a:buSzPts val="2000"/>
              <a:buNone/>
            </a:pPr>
            <a:endParaRPr lang="en-IN" altLang="en-US" dirty="0">
              <a:latin typeface="Times New Roman" panose="02020603050405020304" pitchFamily="18" charset="0"/>
              <a:cs typeface="Times New Roman" panose="02020603050405020304" pitchFamily="18" charset="0"/>
            </a:endParaRPr>
          </a:p>
          <a:p>
            <a:pPr marL="68580" indent="0" algn="just">
              <a:spcBef>
                <a:spcPts val="0"/>
              </a:spcBef>
              <a:buSzPts val="2000"/>
              <a:buNone/>
            </a:pPr>
            <a:endParaRPr lang="en-IN" altLang="en-US" dirty="0">
              <a:latin typeface="Times New Roman" panose="02020603050405020304" pitchFamily="18" charset="0"/>
              <a:cs typeface="Times New Roman" panose="02020603050405020304" pitchFamily="18" charset="0"/>
            </a:endParaRPr>
          </a:p>
          <a:p>
            <a:pPr marL="68580" indent="0" algn="just">
              <a:spcBef>
                <a:spcPts val="0"/>
              </a:spcBef>
              <a:buSzPts val="2000"/>
              <a:buNone/>
            </a:pPr>
            <a:r>
              <a:rPr lang="en-IN" altLang="en-US" sz="1200" dirty="0">
                <a:latin typeface="Times New Roman" panose="02020603050405020304" pitchFamily="18" charset="0"/>
                <a:cs typeface="Times New Roman" panose="02020603050405020304" pitchFamily="18" charset="0"/>
              </a:rPr>
              <a:t>With the global population steadily increasing and arable land becoming scarce, there is a pressing need for innovative and sustainable agricultural methods. Hydroponics, a soilless cultivation technique that allows plants to grow in nutrient-rich water solutions, has gained significant attention due to its efficient use of water and space, as well as the ability to produce higher yields compared to traditional farming.</a:t>
            </a:r>
          </a:p>
          <a:p>
            <a:pPr marL="68580" indent="0" algn="just">
              <a:spcBef>
                <a:spcPts val="0"/>
              </a:spcBef>
              <a:buSzPts val="2000"/>
              <a:buNone/>
            </a:pPr>
            <a:endParaRPr lang="en-IN" altLang="en-US" sz="1200" dirty="0">
              <a:latin typeface="Times New Roman" panose="02020603050405020304" pitchFamily="18" charset="0"/>
              <a:cs typeface="Times New Roman" panose="02020603050405020304" pitchFamily="18" charset="0"/>
            </a:endParaRPr>
          </a:p>
          <a:p>
            <a:pPr marL="68580" indent="0" algn="just">
              <a:spcBef>
                <a:spcPts val="0"/>
              </a:spcBef>
              <a:buSzPts val="2000"/>
              <a:buNone/>
            </a:pPr>
            <a:r>
              <a:rPr lang="en-IN" altLang="en-US" sz="1200" dirty="0">
                <a:latin typeface="Times New Roman" panose="02020603050405020304" pitchFamily="18" charset="0"/>
                <a:cs typeface="Times New Roman" panose="02020603050405020304" pitchFamily="18" charset="0"/>
              </a:rPr>
              <a:t>However, managing hydroponic systems manually can be </a:t>
            </a:r>
            <a:r>
              <a:rPr lang="en-IN" altLang="en-US" sz="1200" dirty="0" err="1">
                <a:latin typeface="Times New Roman" panose="02020603050405020304" pitchFamily="18" charset="0"/>
                <a:cs typeface="Times New Roman" panose="02020603050405020304" pitchFamily="18" charset="0"/>
              </a:rPr>
              <a:t>labor</a:t>
            </a:r>
            <a:r>
              <a:rPr lang="en-IN" altLang="en-US" sz="1200" dirty="0">
                <a:latin typeface="Times New Roman" panose="02020603050405020304" pitchFamily="18" charset="0"/>
                <a:cs typeface="Times New Roman" panose="02020603050405020304" pitchFamily="18" charset="0"/>
              </a:rPr>
              <a:t>-intensive and prone to human error, especially in maintaining optimal environmental conditions such as pH, nutrient concentration, temperature, and humidity. Variations in these parameters can significantly impact plant growth, quality, and yield.</a:t>
            </a:r>
          </a:p>
          <a:p>
            <a:pPr marL="68580" indent="0" algn="just">
              <a:spcBef>
                <a:spcPts val="0"/>
              </a:spcBef>
              <a:buSzPts val="2000"/>
              <a:buNone/>
            </a:pPr>
            <a:endParaRPr lang="en-IN" altLang="en-US" sz="1200" dirty="0">
              <a:latin typeface="Times New Roman" panose="02020603050405020304" pitchFamily="18" charset="0"/>
              <a:cs typeface="Times New Roman" panose="02020603050405020304" pitchFamily="18" charset="0"/>
            </a:endParaRPr>
          </a:p>
          <a:p>
            <a:pPr marL="68580" indent="0" algn="just">
              <a:spcBef>
                <a:spcPts val="0"/>
              </a:spcBef>
              <a:buSzPts val="2000"/>
              <a:buNone/>
            </a:pPr>
            <a:r>
              <a:rPr lang="en-IN" altLang="en-US" sz="1200" dirty="0">
                <a:latin typeface="Times New Roman" panose="02020603050405020304" pitchFamily="18" charset="0"/>
                <a:cs typeface="Times New Roman" panose="02020603050405020304" pitchFamily="18" charset="0"/>
              </a:rPr>
              <a:t>The integration of the Internet of Things (</a:t>
            </a:r>
            <a:r>
              <a:rPr lang="en-IN" altLang="en-US" sz="1200" dirty="0" err="1">
                <a:latin typeface="Times New Roman" panose="02020603050405020304" pitchFamily="18" charset="0"/>
                <a:cs typeface="Times New Roman" panose="02020603050405020304" pitchFamily="18" charset="0"/>
              </a:rPr>
              <a:t>IoT</a:t>
            </a:r>
            <a:r>
              <a:rPr lang="en-IN" altLang="en-US" sz="1200" dirty="0">
                <a:latin typeface="Times New Roman" panose="02020603050405020304" pitchFamily="18" charset="0"/>
                <a:cs typeface="Times New Roman" panose="02020603050405020304" pitchFamily="18" charset="0"/>
              </a:rPr>
              <a:t>) into hydroponic systems provides a promising solution by enabling real-time monitoring and automated control of critical factors. </a:t>
            </a:r>
            <a:r>
              <a:rPr lang="en-IN" altLang="en-US" sz="1200" dirty="0" err="1">
                <a:latin typeface="Times New Roman" panose="02020603050405020304" pitchFamily="18" charset="0"/>
                <a:cs typeface="Times New Roman" panose="02020603050405020304" pitchFamily="18" charset="0"/>
              </a:rPr>
              <a:t>IoT</a:t>
            </a:r>
            <a:r>
              <a:rPr lang="en-IN" altLang="en-US" sz="1200" dirty="0">
                <a:latin typeface="Times New Roman" panose="02020603050405020304" pitchFamily="18" charset="0"/>
                <a:cs typeface="Times New Roman" panose="02020603050405020304" pitchFamily="18" charset="0"/>
              </a:rPr>
              <a:t> technology uses sensors and actuators connected to microcontrollers and cloud platforms to collect, </a:t>
            </a:r>
            <a:r>
              <a:rPr lang="en-IN" altLang="en-US" sz="1200" dirty="0" err="1">
                <a:latin typeface="Times New Roman" panose="02020603050405020304" pitchFamily="18" charset="0"/>
                <a:cs typeface="Times New Roman" panose="02020603050405020304" pitchFamily="18" charset="0"/>
              </a:rPr>
              <a:t>analyze</a:t>
            </a:r>
            <a:r>
              <a:rPr lang="en-IN" altLang="en-US" sz="1200" dirty="0">
                <a:latin typeface="Times New Roman" panose="02020603050405020304" pitchFamily="18" charset="0"/>
                <a:cs typeface="Times New Roman" panose="02020603050405020304" pitchFamily="18" charset="0"/>
              </a:rPr>
              <a:t>, and respond to environmental data remotely. This automation reduces manual intervention, ensures consistent growing conditions, optimizes resource utilization, and can improve crop productivity.</a:t>
            </a:r>
          </a:p>
          <a:p>
            <a:pPr marL="68580" indent="0" algn="just">
              <a:spcBef>
                <a:spcPts val="0"/>
              </a:spcBef>
              <a:buSzPts val="2000"/>
              <a:buNone/>
            </a:pPr>
            <a:endParaRPr lang="en-IN" altLang="en-US" sz="1200" dirty="0">
              <a:latin typeface="Times New Roman" panose="02020603050405020304" pitchFamily="18" charset="0"/>
              <a:cs typeface="Times New Roman" panose="02020603050405020304" pitchFamily="18" charset="0"/>
            </a:endParaRPr>
          </a:p>
          <a:p>
            <a:pPr marL="68580" indent="0" algn="just">
              <a:spcBef>
                <a:spcPts val="0"/>
              </a:spcBef>
              <a:buSzPts val="2000"/>
              <a:buNone/>
            </a:pPr>
            <a:r>
              <a:rPr lang="en-IN" altLang="en-US" sz="1200" dirty="0">
                <a:latin typeface="Times New Roman" panose="02020603050405020304" pitchFamily="18" charset="0"/>
                <a:cs typeface="Times New Roman" panose="02020603050405020304" pitchFamily="18" charset="0"/>
              </a:rPr>
              <a:t>This project aims to design and implement an </a:t>
            </a:r>
            <a:r>
              <a:rPr lang="en-IN" altLang="en-US" sz="1200" dirty="0" err="1">
                <a:latin typeface="Times New Roman" panose="02020603050405020304" pitchFamily="18" charset="0"/>
                <a:cs typeface="Times New Roman" panose="02020603050405020304" pitchFamily="18" charset="0"/>
              </a:rPr>
              <a:t>IoT</a:t>
            </a:r>
            <a:r>
              <a:rPr lang="en-IN" altLang="en-US" sz="1200" dirty="0">
                <a:latin typeface="Times New Roman" panose="02020603050405020304" pitchFamily="18" charset="0"/>
                <a:cs typeface="Times New Roman" panose="02020603050405020304" pitchFamily="18" charset="0"/>
              </a:rPr>
              <a:t>-based hydroponic monitoring and control system that continuously tracks essential parameters and automates necessary adjustments. The system will support sustainable food production by enhancing efficiency, reducing resource wastage, and providing a scalable solution suitable for urban farming and areas with limited agricultural </a:t>
            </a:r>
            <a:r>
              <a:rPr lang="en-IN" altLang="en-US" sz="1200" dirty="0" smtClean="0">
                <a:latin typeface="Times New Roman" panose="02020603050405020304" pitchFamily="18" charset="0"/>
                <a:cs typeface="Times New Roman" panose="02020603050405020304" pitchFamily="18" charset="0"/>
              </a:rPr>
              <a:t>resources</a:t>
            </a:r>
            <a:endParaRPr lang="en-IN" altLang="en-US" sz="1200" dirty="0">
              <a:latin typeface="Times New Roman" panose="02020603050405020304" pitchFamily="18" charset="0"/>
              <a:cs typeface="Times New Roman" panose="02020603050405020304" pitchFamily="18" charset="0"/>
            </a:endParaRPr>
          </a:p>
          <a:p>
            <a:pPr marL="68580" indent="0" algn="just">
              <a:spcBef>
                <a:spcPts val="0"/>
              </a:spcBef>
              <a:buSzPts val="2000"/>
              <a:buNone/>
            </a:pPr>
            <a:endParaRPr lang="en-US" altLang="en-US" sz="12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a:xfrm>
            <a:off x="152401" y="5791200"/>
            <a:ext cx="914399" cy="309201"/>
          </a:xfrm>
        </p:spPr>
        <p:txBody>
          <a:bodyPr/>
          <a:lstStyle/>
          <a:p>
            <a:fld id="{B9387537-A641-4ED1-8E3A-472CCC77C9A0}" type="datetime1">
              <a:rPr lang="en-US" sz="1400" smtClean="0">
                <a:solidFill>
                  <a:srgbClr val="FF0000"/>
                </a:solidFill>
                <a:latin typeface="Times New Roman" panose="02020603050405020304" pitchFamily="18" charset="0"/>
                <a:cs typeface="Times New Roman" panose="02020603050405020304" pitchFamily="18" charset="0"/>
              </a:rPr>
              <a:t>9/12/2025</a:t>
            </a:fld>
            <a:endParaRPr lang="en-US" sz="1400" dirty="0">
              <a:solidFill>
                <a:srgbClr val="FF000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solidFill>
                  <a:srgbClr val="FF0000"/>
                </a:solidFill>
                <a:latin typeface="Times New Roman" panose="02020603050405020304" pitchFamily="18" charset="0"/>
                <a:cs typeface="Times New Roman" panose="02020603050405020304" pitchFamily="18" charset="0"/>
              </a:rPr>
              <a:t>3</a:t>
            </a:fld>
            <a:endParaRPr lang="en-US"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panose="020B0502020104020203"/>
              <a:buNone/>
            </a:pPr>
            <a:r>
              <a:rPr lang="en-IN" b="1" dirty="0">
                <a:latin typeface="Times New Roman" panose="02020603050405020304" pitchFamily="18" charset="0"/>
                <a:cs typeface="Times New Roman" panose="02020603050405020304" pitchFamily="18" charset="0"/>
              </a:rPr>
              <a:t>Literature Review</a:t>
            </a:r>
            <a:endParaRPr b="1">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xmlns="" id="{DB0B8DF9-A3FD-E732-50DF-95350DA95CE1}"/>
              </a:ext>
            </a:extLst>
          </p:cNvPr>
          <p:cNvSpPr>
            <a:spLocks noGrp="1"/>
          </p:cNvSpPr>
          <p:nvPr>
            <p:ph idx="1"/>
          </p:nvPr>
        </p:nvSpPr>
        <p:spPr>
          <a:xfrm>
            <a:off x="1451555" y="1295400"/>
            <a:ext cx="9603300" cy="4805001"/>
          </a:xfrm>
        </p:spPr>
        <p:txBody>
          <a:bodyPr>
            <a:noAutofit/>
          </a:bodyPr>
          <a:lstStyle/>
          <a:p>
            <a:pPr marL="114300" indent="0">
              <a:buNone/>
            </a:pP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IN" sz="1200" dirty="0" smtClean="0">
                <a:latin typeface="Times New Roman" panose="02020603050405020304" pitchFamily="18" charset="0"/>
                <a:cs typeface="Times New Roman" panose="02020603050405020304" pitchFamily="18" charset="0"/>
              </a:rPr>
              <a:t>Hydroponics, a soilless method of growing plants, has emerged as a sustainable alternative to traditional agriculture, especially in urban and resource-constrained environments. The integration of the Internet of Things (</a:t>
            </a:r>
            <a:r>
              <a:rPr lang="en-IN" sz="1200" dirty="0" err="1" smtClean="0">
                <a:latin typeface="Times New Roman" panose="02020603050405020304" pitchFamily="18" charset="0"/>
                <a:cs typeface="Times New Roman" panose="02020603050405020304" pitchFamily="18" charset="0"/>
              </a:rPr>
              <a:t>IoT</a:t>
            </a:r>
            <a:r>
              <a:rPr lang="en-IN" sz="1200" dirty="0" smtClean="0">
                <a:latin typeface="Times New Roman" panose="02020603050405020304" pitchFamily="18" charset="0"/>
                <a:cs typeface="Times New Roman" panose="02020603050405020304" pitchFamily="18" charset="0"/>
              </a:rPr>
              <a:t>) into hydroponic systems has significantly enhanced their efficiency, enabling real-time monitoring and automation of critical parameters such as pH, electrical conductivity (EC), temperature, humidity, and water level.</a:t>
            </a:r>
          </a:p>
          <a:p>
            <a:pPr>
              <a:buFont typeface="Wingdings" panose="05000000000000000000" pitchFamily="2" charset="2"/>
              <a:buChar char="v"/>
            </a:pP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IN" sz="1200" dirty="0">
                <a:latin typeface="Times New Roman" panose="02020603050405020304" pitchFamily="18" charset="0"/>
                <a:cs typeface="Times New Roman" panose="02020603050405020304" pitchFamily="18" charset="0"/>
              </a:rPr>
              <a:t>According to [</a:t>
            </a:r>
            <a:r>
              <a:rPr lang="en-IN" sz="1200" dirty="0" err="1">
                <a:latin typeface="Times New Roman" panose="02020603050405020304" pitchFamily="18" charset="0"/>
                <a:cs typeface="Times New Roman" panose="02020603050405020304" pitchFamily="18" charset="0"/>
              </a:rPr>
              <a:t>Rahman</a:t>
            </a:r>
            <a:r>
              <a:rPr lang="en-IN" sz="1200" dirty="0">
                <a:latin typeface="Times New Roman" panose="02020603050405020304" pitchFamily="18" charset="0"/>
                <a:cs typeface="Times New Roman" panose="02020603050405020304" pitchFamily="18" charset="0"/>
              </a:rPr>
              <a:t> et al. (2022)](https://arxiv.org/abs/2208.00364), </a:t>
            </a:r>
            <a:r>
              <a:rPr lang="en-IN" sz="1200" dirty="0" err="1">
                <a:latin typeface="Times New Roman" panose="02020603050405020304" pitchFamily="18" charset="0"/>
                <a:cs typeface="Times New Roman" panose="02020603050405020304" pitchFamily="18" charset="0"/>
              </a:rPr>
              <a:t>IoT</a:t>
            </a:r>
            <a:r>
              <a:rPr lang="en-IN" sz="1200" dirty="0">
                <a:latin typeface="Times New Roman" panose="02020603050405020304" pitchFamily="18" charset="0"/>
                <a:cs typeface="Times New Roman" panose="02020603050405020304" pitchFamily="18" charset="0"/>
              </a:rPr>
              <a:t>-based hydroponic systems provide better control over plant growth environments through the use of sensors and microcontrollers like </a:t>
            </a:r>
            <a:r>
              <a:rPr lang="en-IN" sz="1200" dirty="0" err="1">
                <a:latin typeface="Times New Roman" panose="02020603050405020304" pitchFamily="18" charset="0"/>
                <a:cs typeface="Times New Roman" panose="02020603050405020304" pitchFamily="18" charset="0"/>
              </a:rPr>
              <a:t>Arduino</a:t>
            </a:r>
            <a:r>
              <a:rPr lang="en-IN" sz="1200" dirty="0">
                <a:latin typeface="Times New Roman" panose="02020603050405020304" pitchFamily="18" charset="0"/>
                <a:cs typeface="Times New Roman" panose="02020603050405020304" pitchFamily="18" charset="0"/>
              </a:rPr>
              <a:t> and ESP32. These systems can automatically adjust nutrient levels and environmental conditions, improving yield and reducing resource usage. Similarly, \[</a:t>
            </a:r>
            <a:r>
              <a:rPr lang="en-IN" sz="1200" dirty="0" err="1">
                <a:latin typeface="Times New Roman" panose="02020603050405020304" pitchFamily="18" charset="0"/>
                <a:cs typeface="Times New Roman" panose="02020603050405020304" pitchFamily="18" charset="0"/>
              </a:rPr>
              <a:t>Setiawan</a:t>
            </a:r>
            <a:r>
              <a:rPr lang="en-IN" sz="1200" dirty="0">
                <a:latin typeface="Times New Roman" panose="02020603050405020304" pitchFamily="18" charset="0"/>
                <a:cs typeface="Times New Roman" panose="02020603050405020304" pitchFamily="18" charset="0"/>
              </a:rPr>
              <a:t> et al. (2021)] developed a fuzzy logic-based control system for hydroponics that maintained optimal pH and nutrient levels, demonstrating the advantage of intelligent control over manual adjustments.</a:t>
            </a:r>
          </a:p>
          <a:p>
            <a:pPr>
              <a:buFont typeface="Wingdings" panose="05000000000000000000" pitchFamily="2" charset="2"/>
              <a:buChar char="v"/>
            </a:pP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IN" sz="1200" dirty="0" smtClean="0">
                <a:latin typeface="Times New Roman" panose="02020603050405020304" pitchFamily="18" charset="0"/>
                <a:cs typeface="Times New Roman" panose="02020603050405020304" pitchFamily="18" charset="0"/>
              </a:rPr>
              <a:t>Studies by \[</a:t>
            </a:r>
            <a:r>
              <a:rPr lang="en-IN" sz="1200" dirty="0" err="1" smtClean="0">
                <a:latin typeface="Times New Roman" panose="02020603050405020304" pitchFamily="18" charset="0"/>
                <a:cs typeface="Times New Roman" panose="02020603050405020304" pitchFamily="18" charset="0"/>
              </a:rPr>
              <a:t>Susanto</a:t>
            </a:r>
            <a:r>
              <a:rPr lang="en-IN" sz="1200" dirty="0" smtClean="0">
                <a:latin typeface="Times New Roman" panose="02020603050405020304" pitchFamily="18" charset="0"/>
                <a:cs typeface="Times New Roman" panose="02020603050405020304" pitchFamily="18" charset="0"/>
              </a:rPr>
              <a:t> et al. (2023)] highlighted the importance of using cloud-based dashboards and mobile apps to enable remote control and monitoring, thereby reducing </a:t>
            </a:r>
            <a:r>
              <a:rPr lang="en-IN" sz="1200" dirty="0" err="1" smtClean="0">
                <a:latin typeface="Times New Roman" panose="02020603050405020304" pitchFamily="18" charset="0"/>
                <a:cs typeface="Times New Roman" panose="02020603050405020304" pitchFamily="18" charset="0"/>
              </a:rPr>
              <a:t>labor</a:t>
            </a:r>
            <a:r>
              <a:rPr lang="en-IN" sz="1200" dirty="0" smtClean="0">
                <a:latin typeface="Times New Roman" panose="02020603050405020304" pitchFamily="18" charset="0"/>
                <a:cs typeface="Times New Roman" panose="02020603050405020304" pitchFamily="18" charset="0"/>
              </a:rPr>
              <a:t> and increasing system scalability. Furthermore, \[Ahmed et al. (2020)] emphasized the role of low-cost, energy-efficient components in making </a:t>
            </a:r>
            <a:r>
              <a:rPr lang="en-IN" sz="1200" dirty="0" err="1" smtClean="0">
                <a:latin typeface="Times New Roman" panose="02020603050405020304" pitchFamily="18" charset="0"/>
                <a:cs typeface="Times New Roman" panose="02020603050405020304" pitchFamily="18" charset="0"/>
              </a:rPr>
              <a:t>IoT</a:t>
            </a:r>
            <a:r>
              <a:rPr lang="en-IN" sz="1200" dirty="0" smtClean="0">
                <a:latin typeface="Times New Roman" panose="02020603050405020304" pitchFamily="18" charset="0"/>
                <a:cs typeface="Times New Roman" panose="02020603050405020304" pitchFamily="18" charset="0"/>
              </a:rPr>
              <a:t> solutions more accessible for small-scale and urban farmers.</a:t>
            </a:r>
            <a:endParaRPr lang="en-IN" sz="1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a:xfrm>
            <a:off x="152401" y="5791200"/>
            <a:ext cx="914399" cy="309201"/>
          </a:xfrm>
        </p:spPr>
        <p:txBody>
          <a:bodyPr/>
          <a:lstStyle/>
          <a:p>
            <a:fld id="{B9387537-A641-4ED1-8E3A-472CCC77C9A0}" type="datetime1">
              <a:rPr lang="en-US" sz="1400" smtClean="0">
                <a:solidFill>
                  <a:srgbClr val="FF0000"/>
                </a:solidFill>
                <a:latin typeface="Times New Roman" panose="02020603050405020304" pitchFamily="18" charset="0"/>
                <a:cs typeface="Times New Roman" panose="02020603050405020304" pitchFamily="18" charset="0"/>
              </a:rPr>
              <a:t>9/12/2025</a:t>
            </a:fld>
            <a:endParaRPr lang="en-US" sz="1400" dirty="0">
              <a:solidFill>
                <a:srgbClr val="FF000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solidFill>
                  <a:srgbClr val="FF0000"/>
                </a:solidFill>
                <a:latin typeface="Times New Roman" panose="02020603050405020304" pitchFamily="18" charset="0"/>
                <a:cs typeface="Times New Roman" panose="02020603050405020304" pitchFamily="18" charset="0"/>
              </a:rPr>
              <a:t>4</a:t>
            </a:fld>
            <a:endParaRPr lang="en-US"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xmlns="" id="{95F52A54-DB1E-EA81-6370-4084565FDDD7}"/>
              </a:ext>
            </a:extLst>
          </p:cNvPr>
          <p:cNvSpPr>
            <a:spLocks noGrp="1"/>
          </p:cNvSpPr>
          <p:nvPr>
            <p:ph idx="1"/>
          </p:nvPr>
        </p:nvSpPr>
        <p:spPr>
          <a:xfrm>
            <a:off x="1451579" y="1981200"/>
            <a:ext cx="9603275" cy="4038600"/>
          </a:xfrm>
        </p:spPr>
        <p:txBody>
          <a:bodyPr>
            <a:normAutofit fontScale="92500"/>
          </a:bodyPr>
          <a:lstStyle/>
          <a:p>
            <a:pPr>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However, challenges remain, such as sensor calibration, system maintenance, and high initial costs. Future research is focused on integrating machine learning for predictive control, improving sensor reliability, and enhancing sustainability through renewable energy sources.</a:t>
            </a:r>
          </a:p>
          <a:p>
            <a:pPr>
              <a:buFont typeface="Wingdings" panose="05000000000000000000" pitchFamily="2" charset="2"/>
              <a:buChar char="v"/>
            </a:pP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IN" dirty="0">
                <a:latin typeface="Times New Roman" panose="02020603050405020304" pitchFamily="18" charset="0"/>
                <a:cs typeface="Times New Roman" panose="02020603050405020304" pitchFamily="18" charset="0"/>
              </a:rPr>
              <a:t>In summary, </a:t>
            </a:r>
            <a:r>
              <a:rPr lang="en-IN" dirty="0" err="1">
                <a:latin typeface="Times New Roman" panose="02020603050405020304" pitchFamily="18" charset="0"/>
                <a:cs typeface="Times New Roman" panose="02020603050405020304" pitchFamily="18" charset="0"/>
              </a:rPr>
              <a:t>IoT</a:t>
            </a:r>
            <a:r>
              <a:rPr lang="en-IN" dirty="0">
                <a:latin typeface="Times New Roman" panose="02020603050405020304" pitchFamily="18" charset="0"/>
                <a:cs typeface="Times New Roman" panose="02020603050405020304" pitchFamily="18" charset="0"/>
              </a:rPr>
              <a:t>-enhanced hydroponic systems offer a promising solution for sustainable food production, particularly in areas with limited arable land or water resources. Continued innovation in automation, AI integration, and cost reduction will further expand their potential.</a:t>
            </a:r>
          </a:p>
          <a:p>
            <a:pPr>
              <a:buFont typeface="Wingdings" panose="05000000000000000000" pitchFamily="2" charset="2"/>
              <a:buChar char="v"/>
            </a:pPr>
            <a:endParaRPr lang="en-IN" dirty="0">
              <a:latin typeface="Times New Roman" panose="02020603050405020304" pitchFamily="18" charset="0"/>
              <a:cs typeface="Times New Roman" panose="02020603050405020304" pitchFamily="18" charset="0"/>
            </a:endParaRPr>
          </a:p>
          <a:p>
            <a:pPr marL="0" indent="0">
              <a:buNone/>
            </a:pPr>
            <a:endParaRPr lang="en-IN"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IN"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IN" dirty="0" smtClean="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IN" dirty="0">
              <a:latin typeface="Times New Roman" panose="02020603050405020304" pitchFamily="18" charset="0"/>
              <a:cs typeface="Times New Roman" panose="02020603050405020304" pitchFamily="18" charset="0"/>
            </a:endParaRPr>
          </a:p>
          <a:p>
            <a:endParaRPr lang="en-IN" dirty="0"/>
          </a:p>
        </p:txBody>
      </p:sp>
      <p:sp>
        <p:nvSpPr>
          <p:cNvPr id="4" name="Date Placeholder 3">
            <a:extLst>
              <a:ext uri="{FF2B5EF4-FFF2-40B4-BE49-F238E27FC236}">
                <a16:creationId xmlns:a16="http://schemas.microsoft.com/office/drawing/2014/main" xmlns="" id="{85691E1C-AAB5-5421-138F-9BB44BEEC182}"/>
              </a:ext>
            </a:extLst>
          </p:cNvPr>
          <p:cNvSpPr>
            <a:spLocks noGrp="1"/>
          </p:cNvSpPr>
          <p:nvPr>
            <p:ph type="dt" sz="half" idx="10"/>
          </p:nvPr>
        </p:nvSpPr>
        <p:spPr/>
        <p:txBody>
          <a:bodyPr/>
          <a:lstStyle/>
          <a:p>
            <a:fld id="{1C5F2C70-485B-4CD2-A99B-7F1D7D0ACFDF}" type="datetime1">
              <a:rPr lang="en-US" smtClean="0"/>
              <a:t>9/12/2025</a:t>
            </a:fld>
            <a:endParaRPr lang="en-US"/>
          </a:p>
        </p:txBody>
      </p:sp>
    </p:spTree>
    <p:extLst>
      <p:ext uri="{BB962C8B-B14F-4D97-AF65-F5344CB8AC3E}">
        <p14:creationId xmlns:p14="http://schemas.microsoft.com/office/powerpoint/2010/main" val="698276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1"/>
              </a:buClr>
              <a:buSzPts val="3200"/>
              <a:buFont typeface="Gill Sans" panose="020B0502020104020203"/>
              <a:buNone/>
            </a:pPr>
            <a:r>
              <a:rPr lang="en-IN" b="1" dirty="0">
                <a:latin typeface="Times New Roman" panose="02020603050405020304" pitchFamily="18" charset="0"/>
                <a:cs typeface="Times New Roman" panose="02020603050405020304" pitchFamily="18" charset="0"/>
              </a:rPr>
              <a:t>Problem statement</a:t>
            </a:r>
            <a:endParaRPr b="1">
              <a:latin typeface="Times New Roman" panose="02020603050405020304" pitchFamily="18" charset="0"/>
              <a:cs typeface="Times New Roman" panose="02020603050405020304" pitchFamily="18" charset="0"/>
            </a:endParaRPr>
          </a:p>
        </p:txBody>
      </p:sp>
      <p:sp>
        <p:nvSpPr>
          <p:cNvPr id="121" name="Google Shape;121;p2"/>
          <p:cNvSpPr txBox="1">
            <a:spLocks noGrp="1"/>
          </p:cNvSpPr>
          <p:nvPr>
            <p:ph idx="1"/>
          </p:nvPr>
        </p:nvSpPr>
        <p:spPr>
          <a:xfrm>
            <a:off x="1371600" y="2057400"/>
            <a:ext cx="9603300" cy="2514600"/>
          </a:xfrm>
          <a:prstGeom prst="rect">
            <a:avLst/>
          </a:prstGeom>
          <a:noFill/>
          <a:ln>
            <a:noFill/>
          </a:ln>
        </p:spPr>
        <p:txBody>
          <a:bodyPr spcFirstLastPara="1" wrap="square" lIns="91425" tIns="45700" rIns="91425" bIns="45700" anchor="t" anchorCtr="0">
            <a:normAutofit fontScale="85000" lnSpcReduction="20000"/>
          </a:bodyPr>
          <a:lstStyle/>
          <a:p>
            <a:pPr marL="0" lvl="0" indent="0" algn="just">
              <a:lnSpc>
                <a:spcPct val="120000"/>
              </a:lnSpc>
              <a:spcBef>
                <a:spcPts val="0"/>
              </a:spcBef>
              <a:buSzPts val="2000"/>
              <a:buNone/>
            </a:pPr>
            <a:endParaRPr lang="en-IN" dirty="0">
              <a:latin typeface="Times New Roman" panose="02020603050405020304" pitchFamily="18" charset="0"/>
              <a:cs typeface="Times New Roman" panose="02020603050405020304" pitchFamily="18" charset="0"/>
            </a:endParaRPr>
          </a:p>
          <a:p>
            <a:pPr marL="0" lvl="0" indent="0" algn="just">
              <a:lnSpc>
                <a:spcPct val="120000"/>
              </a:lnSpc>
              <a:spcBef>
                <a:spcPts val="0"/>
              </a:spcBef>
              <a:buSzPts val="2000"/>
              <a:buNone/>
            </a:pPr>
            <a:endParaRPr lang="en-IN" dirty="0">
              <a:latin typeface="Times New Roman" panose="02020603050405020304" pitchFamily="18" charset="0"/>
              <a:cs typeface="Times New Roman" panose="02020603050405020304" pitchFamily="18" charset="0"/>
            </a:endParaRPr>
          </a:p>
          <a:p>
            <a:pPr marL="0" lvl="0" indent="0" algn="just">
              <a:lnSpc>
                <a:spcPct val="120000"/>
              </a:lnSpc>
              <a:spcBef>
                <a:spcPts val="0"/>
              </a:spcBef>
              <a:buSzPts val="2000"/>
              <a:buNone/>
            </a:pPr>
            <a:r>
              <a:rPr lang="en-IN" dirty="0">
                <a:latin typeface="Times New Roman" panose="02020603050405020304" pitchFamily="18" charset="0"/>
                <a:cs typeface="Times New Roman" panose="02020603050405020304" pitchFamily="18" charset="0"/>
              </a:rPr>
              <a:t>Manual monitoring and control of hydroponic systems are </a:t>
            </a:r>
            <a:r>
              <a:rPr lang="en-IN" dirty="0" err="1">
                <a:latin typeface="Times New Roman" panose="02020603050405020304" pitchFamily="18" charset="0"/>
                <a:cs typeface="Times New Roman" panose="02020603050405020304" pitchFamily="18" charset="0"/>
              </a:rPr>
              <a:t>labor</a:t>
            </a:r>
            <a:r>
              <a:rPr lang="en-IN" dirty="0">
                <a:latin typeface="Times New Roman" panose="02020603050405020304" pitchFamily="18" charset="0"/>
                <a:cs typeface="Times New Roman" panose="02020603050405020304" pitchFamily="18" charset="0"/>
              </a:rPr>
              <a:t>-intensive and prone to errors, leading to inefficient resource use and inconsistent crop yields. There is a need for an automated </a:t>
            </a:r>
            <a:r>
              <a:rPr lang="en-IN" dirty="0" err="1">
                <a:latin typeface="Times New Roman" panose="02020603050405020304" pitchFamily="18" charset="0"/>
                <a:cs typeface="Times New Roman" panose="02020603050405020304" pitchFamily="18" charset="0"/>
              </a:rPr>
              <a:t>IoT</a:t>
            </a:r>
            <a:r>
              <a:rPr lang="en-IN" dirty="0">
                <a:latin typeface="Times New Roman" panose="02020603050405020304" pitchFamily="18" charset="0"/>
                <a:cs typeface="Times New Roman" panose="02020603050405020304" pitchFamily="18" charset="0"/>
              </a:rPr>
              <a:t>-based solution that enables real-time monitoring and control of key parameters to improve productivity and sustainability in hydroponic </a:t>
            </a:r>
            <a:r>
              <a:rPr lang="en-IN" dirty="0" smtClean="0">
                <a:latin typeface="Times New Roman" panose="02020603050405020304" pitchFamily="18" charset="0"/>
                <a:cs typeface="Times New Roman" panose="02020603050405020304" pitchFamily="18" charset="0"/>
              </a:rPr>
              <a:t>farming </a:t>
            </a:r>
            <a:endParaRPr lang="en-IN" dirty="0">
              <a:latin typeface="Times New Roman" panose="02020603050405020304" pitchFamily="18" charset="0"/>
              <a:cs typeface="Times New Roman" panose="02020603050405020304" pitchFamily="18" charset="0"/>
            </a:endParaRPr>
          </a:p>
          <a:p>
            <a:pPr marL="0" lvl="0" indent="0" algn="just" rtl="0">
              <a:lnSpc>
                <a:spcPct val="120000"/>
              </a:lnSpc>
              <a:spcBef>
                <a:spcPts val="0"/>
              </a:spcBef>
              <a:spcAft>
                <a:spcPts val="0"/>
              </a:spcAft>
              <a:buSzPts val="2000"/>
              <a:buNone/>
            </a:pPr>
            <a:endParaRPr lang="en-GB"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a:xfrm>
            <a:off x="152401" y="5791200"/>
            <a:ext cx="914399" cy="309201"/>
          </a:xfrm>
        </p:spPr>
        <p:txBody>
          <a:bodyPr/>
          <a:lstStyle/>
          <a:p>
            <a:fld id="{B9387537-A641-4ED1-8E3A-472CCC77C9A0}" type="datetime1">
              <a:rPr lang="en-US" sz="1400" smtClean="0">
                <a:solidFill>
                  <a:srgbClr val="FF0000"/>
                </a:solidFill>
                <a:latin typeface="Times New Roman" panose="02020603050405020304" pitchFamily="18" charset="0"/>
                <a:cs typeface="Times New Roman" panose="02020603050405020304" pitchFamily="18" charset="0"/>
              </a:rPr>
              <a:t>9/12/2025</a:t>
            </a:fld>
            <a:endParaRPr lang="en-US" sz="1400" dirty="0">
              <a:solidFill>
                <a:srgbClr val="FF000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solidFill>
                  <a:srgbClr val="FF0000"/>
                </a:solidFill>
                <a:latin typeface="Times New Roman" panose="02020603050405020304" pitchFamily="18" charset="0"/>
                <a:cs typeface="Times New Roman" panose="02020603050405020304" pitchFamily="18" charset="0"/>
              </a:rPr>
              <a:t>6</a:t>
            </a:fld>
            <a:endParaRPr lang="en-US"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1" name="Google Shape;121;p2"/>
          <p:cNvSpPr txBox="1">
            <a:spLocks noGrp="1"/>
          </p:cNvSpPr>
          <p:nvPr>
            <p:ph idx="1"/>
          </p:nvPr>
        </p:nvSpPr>
        <p:spPr>
          <a:xfrm>
            <a:off x="457200" y="838200"/>
            <a:ext cx="10597515" cy="5791200"/>
          </a:xfrm>
          <a:prstGeom prst="rect">
            <a:avLst/>
          </a:prstGeom>
          <a:noFill/>
          <a:ln>
            <a:noFill/>
          </a:ln>
        </p:spPr>
        <p:txBody>
          <a:bodyPr spcFirstLastPara="1" wrap="square" lIns="91425" tIns="45700" rIns="91425" bIns="45700" anchor="t" anchorCtr="0">
            <a:normAutofit fontScale="25000" lnSpcReduction="20000"/>
          </a:bodyPr>
          <a:lstStyle/>
          <a:p>
            <a:pPr marL="0" lvl="0" indent="0" algn="just">
              <a:lnSpc>
                <a:spcPct val="120000"/>
              </a:lnSpc>
              <a:spcBef>
                <a:spcPts val="0"/>
              </a:spcBef>
              <a:buSzPts val="2000"/>
              <a:buNone/>
            </a:pPr>
            <a:endParaRPr lang="en-IN" dirty="0">
              <a:latin typeface="Times New Roman" panose="02020603050405020304" pitchFamily="18" charset="0"/>
              <a:cs typeface="Times New Roman" panose="02020603050405020304" pitchFamily="18" charset="0"/>
            </a:endParaRPr>
          </a:p>
          <a:p>
            <a:pPr marL="0" lvl="0" indent="0" algn="just">
              <a:lnSpc>
                <a:spcPct val="120000"/>
              </a:lnSpc>
              <a:spcBef>
                <a:spcPts val="0"/>
              </a:spcBef>
              <a:buSzPts val="2000"/>
              <a:buNone/>
            </a:pPr>
            <a:endParaRPr lang="en-IN" dirty="0">
              <a:latin typeface="Times New Roman" panose="02020603050405020304" pitchFamily="18" charset="0"/>
              <a:cs typeface="Times New Roman" panose="02020603050405020304" pitchFamily="18" charset="0"/>
            </a:endParaRPr>
          </a:p>
          <a:p>
            <a:pPr marL="0" lvl="0" indent="0" algn="just">
              <a:lnSpc>
                <a:spcPct val="120000"/>
              </a:lnSpc>
              <a:spcBef>
                <a:spcPts val="0"/>
              </a:spcBef>
              <a:buSzPts val="2000"/>
              <a:buNone/>
            </a:pPr>
            <a:r>
              <a:rPr lang="en-IN" sz="6400" dirty="0" smtClean="0">
                <a:latin typeface="Times New Roman" panose="02020603050405020304" pitchFamily="18" charset="0"/>
                <a:cs typeface="Times New Roman" panose="02020603050405020304" pitchFamily="18" charset="0"/>
              </a:rPr>
              <a:t> </a:t>
            </a:r>
            <a:r>
              <a:rPr lang="en-IN" sz="6400" dirty="0">
                <a:latin typeface="Times New Roman" panose="02020603050405020304" pitchFamily="18" charset="0"/>
                <a:cs typeface="Times New Roman" panose="02020603050405020304" pitchFamily="18" charset="0"/>
              </a:rPr>
              <a:t>1. </a:t>
            </a:r>
            <a:r>
              <a:rPr lang="en-IN" sz="6400" dirty="0" smtClean="0">
                <a:latin typeface="Times New Roman" panose="02020603050405020304" pitchFamily="18" charset="0"/>
                <a:cs typeface="Times New Roman" panose="02020603050405020304" pitchFamily="18" charset="0"/>
              </a:rPr>
              <a:t>System </a:t>
            </a:r>
            <a:r>
              <a:rPr lang="en-IN" sz="6400" dirty="0">
                <a:latin typeface="Times New Roman" panose="02020603050405020304" pitchFamily="18" charset="0"/>
                <a:cs typeface="Times New Roman" panose="02020603050405020304" pitchFamily="18" charset="0"/>
              </a:rPr>
              <a:t>Design and </a:t>
            </a:r>
            <a:r>
              <a:rPr lang="en-IN" sz="6400" dirty="0" smtClean="0">
                <a:latin typeface="Times New Roman" panose="02020603050405020304" pitchFamily="18" charset="0"/>
                <a:cs typeface="Times New Roman" panose="02020603050405020304" pitchFamily="18" charset="0"/>
              </a:rPr>
              <a:t>Architecture</a:t>
            </a:r>
            <a:endParaRPr lang="en-IN" sz="6400" dirty="0">
              <a:latin typeface="Times New Roman" panose="02020603050405020304" pitchFamily="18" charset="0"/>
              <a:cs typeface="Times New Roman" panose="02020603050405020304" pitchFamily="18" charset="0"/>
            </a:endParaRPr>
          </a:p>
          <a:p>
            <a:pPr marL="0" lvl="0" indent="0" algn="just">
              <a:lnSpc>
                <a:spcPct val="120000"/>
              </a:lnSpc>
              <a:spcBef>
                <a:spcPts val="0"/>
              </a:spcBef>
              <a:buSzPts val="2000"/>
              <a:buNone/>
            </a:pPr>
            <a:endParaRPr lang="en-IN" sz="6400" dirty="0">
              <a:latin typeface="Times New Roman" panose="02020603050405020304" pitchFamily="18" charset="0"/>
              <a:cs typeface="Times New Roman" panose="02020603050405020304" pitchFamily="18" charset="0"/>
            </a:endParaRPr>
          </a:p>
          <a:p>
            <a:pPr marL="0" lvl="0" indent="0" algn="just">
              <a:lnSpc>
                <a:spcPct val="120000"/>
              </a:lnSpc>
              <a:spcBef>
                <a:spcPts val="0"/>
              </a:spcBef>
              <a:buSzPts val="2000"/>
              <a:buNone/>
            </a:pPr>
            <a:r>
              <a:rPr lang="en-IN" sz="6400" dirty="0">
                <a:latin typeface="Times New Roman" panose="02020603050405020304" pitchFamily="18" charset="0"/>
                <a:cs typeface="Times New Roman" panose="02020603050405020304" pitchFamily="18" charset="0"/>
              </a:rPr>
              <a:t>The system employs a **centralized </a:t>
            </a:r>
            <a:r>
              <a:rPr lang="en-IN" sz="6400" dirty="0" err="1">
                <a:latin typeface="Times New Roman" panose="02020603050405020304" pitchFamily="18" charset="0"/>
                <a:cs typeface="Times New Roman" panose="02020603050405020304" pitchFamily="18" charset="0"/>
              </a:rPr>
              <a:t>IoT</a:t>
            </a:r>
            <a:r>
              <a:rPr lang="en-IN" sz="6400" dirty="0">
                <a:latin typeface="Times New Roman" panose="02020603050405020304" pitchFamily="18" charset="0"/>
                <a:cs typeface="Times New Roman" panose="02020603050405020304" pitchFamily="18" charset="0"/>
              </a:rPr>
              <a:t> architecture** utilizing an **ESP32 microcontroller** as the core processing unit. This microcontroller interfaces with various sensors and actuators to monitor and control the hydroponic environment. Data from the sensors are transmitted to a cloud platform, enabling remote monitoring and control via a mobile application</a:t>
            </a:r>
            <a:r>
              <a:rPr lang="en-IN" sz="6400" dirty="0" smtClean="0">
                <a:latin typeface="Times New Roman" panose="02020603050405020304" pitchFamily="18" charset="0"/>
                <a:cs typeface="Times New Roman" panose="02020603050405020304" pitchFamily="18" charset="0"/>
              </a:rPr>
              <a:t>.</a:t>
            </a:r>
          </a:p>
          <a:p>
            <a:pPr marL="0" lvl="0" indent="0" algn="just">
              <a:lnSpc>
                <a:spcPct val="120000"/>
              </a:lnSpc>
              <a:spcBef>
                <a:spcPts val="0"/>
              </a:spcBef>
              <a:buSzPts val="2000"/>
              <a:buNone/>
            </a:pPr>
            <a:endParaRPr lang="en-IN" sz="6400" dirty="0" smtClean="0">
              <a:latin typeface="Times New Roman" panose="02020603050405020304" pitchFamily="18" charset="0"/>
              <a:cs typeface="Times New Roman" panose="02020603050405020304" pitchFamily="18" charset="0"/>
            </a:endParaRPr>
          </a:p>
          <a:p>
            <a:pPr marL="0" lvl="0" indent="0" algn="just">
              <a:lnSpc>
                <a:spcPct val="120000"/>
              </a:lnSpc>
              <a:spcBef>
                <a:spcPts val="0"/>
              </a:spcBef>
              <a:buSzPts val="2000"/>
              <a:buNone/>
            </a:pPr>
            <a:r>
              <a:rPr lang="en-IN" sz="6400" dirty="0" smtClean="0">
                <a:latin typeface="Times New Roman" panose="02020603050405020304" pitchFamily="18" charset="0"/>
                <a:cs typeface="Times New Roman" panose="02020603050405020304" pitchFamily="18" charset="0"/>
              </a:rPr>
              <a:t>2</a:t>
            </a:r>
            <a:r>
              <a:rPr lang="en-IN" sz="6400" dirty="0">
                <a:latin typeface="Times New Roman" panose="02020603050405020304" pitchFamily="18" charset="0"/>
                <a:cs typeface="Times New Roman" panose="02020603050405020304" pitchFamily="18" charset="0"/>
              </a:rPr>
              <a:t>. </a:t>
            </a:r>
            <a:r>
              <a:rPr lang="en-IN" sz="6400" dirty="0" smtClean="0">
                <a:latin typeface="Times New Roman" panose="02020603050405020304" pitchFamily="18" charset="0"/>
                <a:cs typeface="Times New Roman" panose="02020603050405020304" pitchFamily="18" charset="0"/>
              </a:rPr>
              <a:t>Hardware Components</a:t>
            </a:r>
            <a:endParaRPr lang="en-IN" sz="6400" dirty="0">
              <a:latin typeface="Times New Roman" panose="02020603050405020304" pitchFamily="18" charset="0"/>
              <a:cs typeface="Times New Roman" panose="02020603050405020304" pitchFamily="18" charset="0"/>
            </a:endParaRPr>
          </a:p>
          <a:p>
            <a:pPr marL="0" lvl="0" indent="0" algn="just">
              <a:lnSpc>
                <a:spcPct val="120000"/>
              </a:lnSpc>
              <a:spcBef>
                <a:spcPts val="0"/>
              </a:spcBef>
              <a:buSzPts val="2000"/>
              <a:buNone/>
            </a:pPr>
            <a:endParaRPr lang="en-IN" sz="6400" dirty="0" smtClean="0">
              <a:latin typeface="Times New Roman" panose="02020603050405020304" pitchFamily="18" charset="0"/>
              <a:cs typeface="Times New Roman" panose="02020603050405020304" pitchFamily="18" charset="0"/>
            </a:endParaRPr>
          </a:p>
          <a:p>
            <a:pPr marL="0" lvl="0" indent="0" algn="just">
              <a:lnSpc>
                <a:spcPct val="120000"/>
              </a:lnSpc>
              <a:spcBef>
                <a:spcPts val="0"/>
              </a:spcBef>
              <a:buSzPts val="2000"/>
              <a:buNone/>
            </a:pPr>
            <a:r>
              <a:rPr lang="en-IN" sz="6400" dirty="0" smtClean="0">
                <a:latin typeface="Times New Roman" panose="02020603050405020304" pitchFamily="18" charset="0"/>
                <a:cs typeface="Times New Roman" panose="02020603050405020304" pitchFamily="18" charset="0"/>
              </a:rPr>
              <a:t>Microcontroller: </a:t>
            </a:r>
            <a:r>
              <a:rPr lang="en-IN" sz="6400" dirty="0">
                <a:latin typeface="Times New Roman" panose="02020603050405020304" pitchFamily="18" charset="0"/>
                <a:cs typeface="Times New Roman" panose="02020603050405020304" pitchFamily="18" charset="0"/>
              </a:rPr>
              <a:t>ESP32, chosen for its Wi-Fi and Bluetooth capabilities, facilitating seamless communication</a:t>
            </a:r>
            <a:r>
              <a:rPr lang="en-IN" sz="6400" dirty="0" smtClean="0">
                <a:latin typeface="Times New Roman" panose="02020603050405020304" pitchFamily="18" charset="0"/>
                <a:cs typeface="Times New Roman" panose="02020603050405020304" pitchFamily="18" charset="0"/>
              </a:rPr>
              <a:t>.</a:t>
            </a:r>
          </a:p>
          <a:p>
            <a:pPr marL="0" lvl="0" indent="0" algn="just">
              <a:lnSpc>
                <a:spcPct val="120000"/>
              </a:lnSpc>
              <a:spcBef>
                <a:spcPts val="0"/>
              </a:spcBef>
              <a:buSzPts val="2000"/>
              <a:buNone/>
            </a:pPr>
            <a:endParaRPr lang="en-IN" sz="6400" dirty="0">
              <a:latin typeface="Times New Roman" panose="02020603050405020304" pitchFamily="18" charset="0"/>
              <a:cs typeface="Times New Roman" panose="02020603050405020304" pitchFamily="18" charset="0"/>
            </a:endParaRPr>
          </a:p>
          <a:p>
            <a:pPr marL="0" lvl="0" indent="0" algn="just">
              <a:lnSpc>
                <a:spcPct val="120000"/>
              </a:lnSpc>
              <a:spcBef>
                <a:spcPts val="0"/>
              </a:spcBef>
              <a:buSzPts val="2000"/>
              <a:buNone/>
            </a:pPr>
            <a:r>
              <a:rPr lang="en-IN" sz="6400" dirty="0" smtClean="0">
                <a:latin typeface="Times New Roman" panose="02020603050405020304" pitchFamily="18" charset="0"/>
                <a:cs typeface="Times New Roman" panose="02020603050405020304" pitchFamily="18" charset="0"/>
              </a:rPr>
              <a:t>Sensors:</a:t>
            </a:r>
          </a:p>
          <a:p>
            <a:pPr marL="0" lvl="0" indent="0" algn="just">
              <a:lnSpc>
                <a:spcPct val="120000"/>
              </a:lnSpc>
              <a:spcBef>
                <a:spcPts val="0"/>
              </a:spcBef>
              <a:buSzPts val="2000"/>
              <a:buNone/>
            </a:pPr>
            <a:r>
              <a:rPr lang="en-IN" sz="6400" dirty="0" smtClean="0">
                <a:latin typeface="Times New Roman" panose="02020603050405020304" pitchFamily="18" charset="0"/>
                <a:cs typeface="Times New Roman" panose="02020603050405020304" pitchFamily="18" charset="0"/>
              </a:rPr>
              <a:t> pH Sensor: </a:t>
            </a:r>
            <a:r>
              <a:rPr lang="en-IN" sz="6400" dirty="0">
                <a:latin typeface="Times New Roman" panose="02020603050405020304" pitchFamily="18" charset="0"/>
                <a:cs typeface="Times New Roman" panose="02020603050405020304" pitchFamily="18" charset="0"/>
              </a:rPr>
              <a:t>Monitors the acidity of the nutrient solution.</a:t>
            </a:r>
          </a:p>
          <a:p>
            <a:pPr marL="0" lvl="0" indent="0" algn="just">
              <a:lnSpc>
                <a:spcPct val="120000"/>
              </a:lnSpc>
              <a:spcBef>
                <a:spcPts val="0"/>
              </a:spcBef>
              <a:buSzPts val="2000"/>
              <a:buNone/>
            </a:pPr>
            <a:r>
              <a:rPr lang="en-IN" sz="6400" dirty="0">
                <a:latin typeface="Times New Roman" panose="02020603050405020304" pitchFamily="18" charset="0"/>
                <a:cs typeface="Times New Roman" panose="02020603050405020304" pitchFamily="18" charset="0"/>
              </a:rPr>
              <a:t> </a:t>
            </a:r>
            <a:r>
              <a:rPr lang="en-IN" sz="6400" dirty="0" smtClean="0">
                <a:latin typeface="Times New Roman" panose="02020603050405020304" pitchFamily="18" charset="0"/>
                <a:cs typeface="Times New Roman" panose="02020603050405020304" pitchFamily="18" charset="0"/>
              </a:rPr>
              <a:t>TDS </a:t>
            </a:r>
            <a:r>
              <a:rPr lang="en-IN" sz="6400" dirty="0">
                <a:latin typeface="Times New Roman" panose="02020603050405020304" pitchFamily="18" charset="0"/>
                <a:cs typeface="Times New Roman" panose="02020603050405020304" pitchFamily="18" charset="0"/>
              </a:rPr>
              <a:t>(Total Dissolved Solids) </a:t>
            </a:r>
            <a:r>
              <a:rPr lang="en-IN" sz="6400" dirty="0" smtClean="0">
                <a:latin typeface="Times New Roman" panose="02020603050405020304" pitchFamily="18" charset="0"/>
                <a:cs typeface="Times New Roman" panose="02020603050405020304" pitchFamily="18" charset="0"/>
              </a:rPr>
              <a:t>Sensor: </a:t>
            </a:r>
            <a:r>
              <a:rPr lang="en-IN" sz="6400" dirty="0">
                <a:latin typeface="Times New Roman" panose="02020603050405020304" pitchFamily="18" charset="0"/>
                <a:cs typeface="Times New Roman" panose="02020603050405020304" pitchFamily="18" charset="0"/>
              </a:rPr>
              <a:t>Measures the concentration of dissolved nutrients.</a:t>
            </a:r>
          </a:p>
          <a:p>
            <a:pPr marL="0" lvl="0" indent="0" algn="just">
              <a:lnSpc>
                <a:spcPct val="120000"/>
              </a:lnSpc>
              <a:spcBef>
                <a:spcPts val="0"/>
              </a:spcBef>
              <a:buSzPts val="2000"/>
              <a:buNone/>
            </a:pPr>
            <a:r>
              <a:rPr lang="en-IN" sz="6400" dirty="0">
                <a:latin typeface="Times New Roman" panose="02020603050405020304" pitchFamily="18" charset="0"/>
                <a:cs typeface="Times New Roman" panose="02020603050405020304" pitchFamily="18" charset="0"/>
              </a:rPr>
              <a:t> </a:t>
            </a:r>
            <a:r>
              <a:rPr lang="en-IN" sz="6400" dirty="0" smtClean="0">
                <a:latin typeface="Times New Roman" panose="02020603050405020304" pitchFamily="18" charset="0"/>
                <a:cs typeface="Times New Roman" panose="02020603050405020304" pitchFamily="18" charset="0"/>
              </a:rPr>
              <a:t>Temperature </a:t>
            </a:r>
            <a:r>
              <a:rPr lang="en-IN" sz="6400" dirty="0">
                <a:latin typeface="Times New Roman" panose="02020603050405020304" pitchFamily="18" charset="0"/>
                <a:cs typeface="Times New Roman" panose="02020603050405020304" pitchFamily="18" charset="0"/>
              </a:rPr>
              <a:t>and Humidity </a:t>
            </a:r>
            <a:r>
              <a:rPr lang="en-IN" sz="6400" dirty="0" smtClean="0">
                <a:latin typeface="Times New Roman" panose="02020603050405020304" pitchFamily="18" charset="0"/>
                <a:cs typeface="Times New Roman" panose="02020603050405020304" pitchFamily="18" charset="0"/>
              </a:rPr>
              <a:t>Sensor: </a:t>
            </a:r>
            <a:r>
              <a:rPr lang="en-IN" sz="6400" dirty="0">
                <a:latin typeface="Times New Roman" panose="02020603050405020304" pitchFamily="18" charset="0"/>
                <a:cs typeface="Times New Roman" panose="02020603050405020304" pitchFamily="18" charset="0"/>
              </a:rPr>
              <a:t>Tracks environmental conditions.</a:t>
            </a:r>
          </a:p>
          <a:p>
            <a:pPr marL="0" lvl="0" indent="0" algn="just">
              <a:lnSpc>
                <a:spcPct val="120000"/>
              </a:lnSpc>
              <a:spcBef>
                <a:spcPts val="0"/>
              </a:spcBef>
              <a:buSzPts val="2000"/>
              <a:buNone/>
            </a:pPr>
            <a:r>
              <a:rPr lang="en-IN" sz="6400" dirty="0">
                <a:latin typeface="Times New Roman" panose="02020603050405020304" pitchFamily="18" charset="0"/>
                <a:cs typeface="Times New Roman" panose="02020603050405020304" pitchFamily="18" charset="0"/>
              </a:rPr>
              <a:t>  </a:t>
            </a:r>
            <a:r>
              <a:rPr lang="en-IN" sz="6400" dirty="0" smtClean="0">
                <a:latin typeface="Times New Roman" panose="02020603050405020304" pitchFamily="18" charset="0"/>
                <a:cs typeface="Times New Roman" panose="02020603050405020304" pitchFamily="18" charset="0"/>
              </a:rPr>
              <a:t>Water </a:t>
            </a:r>
            <a:r>
              <a:rPr lang="en-IN" sz="6400" dirty="0">
                <a:latin typeface="Times New Roman" panose="02020603050405020304" pitchFamily="18" charset="0"/>
                <a:cs typeface="Times New Roman" panose="02020603050405020304" pitchFamily="18" charset="0"/>
              </a:rPr>
              <a:t>Level </a:t>
            </a:r>
            <a:r>
              <a:rPr lang="en-IN" sz="6400" dirty="0" smtClean="0">
                <a:latin typeface="Times New Roman" panose="02020603050405020304" pitchFamily="18" charset="0"/>
                <a:cs typeface="Times New Roman" panose="02020603050405020304" pitchFamily="18" charset="0"/>
              </a:rPr>
              <a:t>Sensor: </a:t>
            </a:r>
            <a:r>
              <a:rPr lang="en-IN" sz="6400" dirty="0">
                <a:latin typeface="Times New Roman" panose="02020603050405020304" pitchFamily="18" charset="0"/>
                <a:cs typeface="Times New Roman" panose="02020603050405020304" pitchFamily="18" charset="0"/>
              </a:rPr>
              <a:t>Detects the water level in the reservoir.</a:t>
            </a:r>
          </a:p>
          <a:p>
            <a:pPr marL="0" lvl="0" indent="0" algn="just">
              <a:lnSpc>
                <a:spcPct val="120000"/>
              </a:lnSpc>
              <a:spcBef>
                <a:spcPts val="0"/>
              </a:spcBef>
              <a:buSzPts val="2000"/>
              <a:buNone/>
            </a:pPr>
            <a:r>
              <a:rPr lang="en-IN" sz="6400" dirty="0" smtClean="0">
                <a:latin typeface="Times New Roman" panose="02020603050405020304" pitchFamily="18" charset="0"/>
                <a:cs typeface="Times New Roman" panose="02020603050405020304" pitchFamily="18" charset="0"/>
              </a:rPr>
              <a:t>   Actuators:</a:t>
            </a:r>
            <a:endParaRPr lang="en-IN" sz="6400" dirty="0">
              <a:latin typeface="Times New Roman" panose="02020603050405020304" pitchFamily="18" charset="0"/>
              <a:cs typeface="Times New Roman" panose="02020603050405020304" pitchFamily="18" charset="0"/>
            </a:endParaRPr>
          </a:p>
          <a:p>
            <a:pPr marL="0" lvl="0" indent="0" algn="just">
              <a:lnSpc>
                <a:spcPct val="120000"/>
              </a:lnSpc>
              <a:spcBef>
                <a:spcPts val="0"/>
              </a:spcBef>
              <a:buSzPts val="2000"/>
              <a:buNone/>
            </a:pPr>
            <a:endParaRPr lang="en-IN" sz="6400" dirty="0">
              <a:latin typeface="Times New Roman" panose="02020603050405020304" pitchFamily="18" charset="0"/>
              <a:cs typeface="Times New Roman" panose="02020603050405020304" pitchFamily="18" charset="0"/>
            </a:endParaRPr>
          </a:p>
          <a:p>
            <a:pPr marL="0" lvl="0" indent="0" algn="just">
              <a:lnSpc>
                <a:spcPct val="120000"/>
              </a:lnSpc>
              <a:spcBef>
                <a:spcPts val="0"/>
              </a:spcBef>
              <a:buSzPts val="2000"/>
              <a:buNone/>
            </a:pPr>
            <a:r>
              <a:rPr lang="en-IN" sz="6400" dirty="0">
                <a:latin typeface="Times New Roman" panose="02020603050405020304" pitchFamily="18" charset="0"/>
                <a:cs typeface="Times New Roman" panose="02020603050405020304" pitchFamily="18" charset="0"/>
              </a:rPr>
              <a:t>  </a:t>
            </a:r>
            <a:r>
              <a:rPr lang="en-IN" sz="6400" dirty="0" smtClean="0">
                <a:latin typeface="Times New Roman" panose="02020603050405020304" pitchFamily="18" charset="0"/>
                <a:cs typeface="Times New Roman" panose="02020603050405020304" pitchFamily="18" charset="0"/>
              </a:rPr>
              <a:t>Peristaltic Pumps: </a:t>
            </a:r>
            <a:r>
              <a:rPr lang="en-IN" sz="6400" dirty="0">
                <a:latin typeface="Times New Roman" panose="02020603050405020304" pitchFamily="18" charset="0"/>
                <a:cs typeface="Times New Roman" panose="02020603050405020304" pitchFamily="18" charset="0"/>
              </a:rPr>
              <a:t>Control the addition of pH adjusters and nutrients.</a:t>
            </a:r>
          </a:p>
          <a:p>
            <a:pPr marL="0" lvl="0" indent="0" algn="just">
              <a:lnSpc>
                <a:spcPct val="120000"/>
              </a:lnSpc>
              <a:spcBef>
                <a:spcPts val="0"/>
              </a:spcBef>
              <a:buSzPts val="2000"/>
              <a:buNone/>
            </a:pPr>
            <a:r>
              <a:rPr lang="en-IN" sz="6400" dirty="0">
                <a:latin typeface="Times New Roman" panose="02020603050405020304" pitchFamily="18" charset="0"/>
                <a:cs typeface="Times New Roman" panose="02020603050405020304" pitchFamily="18" charset="0"/>
              </a:rPr>
              <a:t> </a:t>
            </a:r>
            <a:r>
              <a:rPr lang="en-IN" sz="6400" dirty="0" smtClean="0">
                <a:latin typeface="Times New Roman" panose="02020603050405020304" pitchFamily="18" charset="0"/>
                <a:cs typeface="Times New Roman" panose="02020603050405020304" pitchFamily="18" charset="0"/>
              </a:rPr>
              <a:t>Water Pump: </a:t>
            </a:r>
            <a:r>
              <a:rPr lang="en-IN" sz="6400" dirty="0">
                <a:latin typeface="Times New Roman" panose="02020603050405020304" pitchFamily="18" charset="0"/>
                <a:cs typeface="Times New Roman" panose="02020603050405020304" pitchFamily="18" charset="0"/>
              </a:rPr>
              <a:t>Circulates water within the system.</a:t>
            </a:r>
          </a:p>
          <a:p>
            <a:pPr marL="0" lvl="0" indent="0" algn="just">
              <a:lnSpc>
                <a:spcPct val="120000"/>
              </a:lnSpc>
              <a:spcBef>
                <a:spcPts val="0"/>
              </a:spcBef>
              <a:buSzPts val="2000"/>
              <a:buNone/>
            </a:pPr>
            <a:r>
              <a:rPr lang="en-IN" sz="6400" dirty="0">
                <a:latin typeface="Times New Roman" panose="02020603050405020304" pitchFamily="18" charset="0"/>
                <a:cs typeface="Times New Roman" panose="02020603050405020304" pitchFamily="18" charset="0"/>
              </a:rPr>
              <a:t>  </a:t>
            </a:r>
            <a:r>
              <a:rPr lang="en-IN" sz="6400" dirty="0" smtClean="0">
                <a:latin typeface="Times New Roman" panose="02020603050405020304" pitchFamily="18" charset="0"/>
                <a:cs typeface="Times New Roman" panose="02020603050405020304" pitchFamily="18" charset="0"/>
              </a:rPr>
              <a:t>LED </a:t>
            </a:r>
            <a:r>
              <a:rPr lang="en-IN" sz="6400" dirty="0">
                <a:latin typeface="Times New Roman" panose="02020603050405020304" pitchFamily="18" charset="0"/>
                <a:cs typeface="Times New Roman" panose="02020603050405020304" pitchFamily="18" charset="0"/>
              </a:rPr>
              <a:t>Grow </a:t>
            </a:r>
            <a:r>
              <a:rPr lang="en-IN" sz="6400" dirty="0" smtClean="0">
                <a:latin typeface="Times New Roman" panose="02020603050405020304" pitchFamily="18" charset="0"/>
                <a:cs typeface="Times New Roman" panose="02020603050405020304" pitchFamily="18" charset="0"/>
              </a:rPr>
              <a:t>Light: </a:t>
            </a:r>
            <a:r>
              <a:rPr lang="en-IN" sz="6400" dirty="0">
                <a:latin typeface="Times New Roman" panose="02020603050405020304" pitchFamily="18" charset="0"/>
                <a:cs typeface="Times New Roman" panose="02020603050405020304" pitchFamily="18" charset="0"/>
              </a:rPr>
              <a:t>Provide necessary light for plant growth.</a:t>
            </a:r>
          </a:p>
          <a:p>
            <a:pPr marL="0" lvl="0" indent="0" algn="just">
              <a:lnSpc>
                <a:spcPct val="120000"/>
              </a:lnSpc>
              <a:spcBef>
                <a:spcPts val="0"/>
              </a:spcBef>
              <a:buSzPts val="2000"/>
              <a:buNone/>
            </a:pPr>
            <a:endParaRPr lang="en-IN" sz="5600" dirty="0">
              <a:latin typeface="Times New Roman" panose="02020603050405020304" pitchFamily="18" charset="0"/>
              <a:cs typeface="Times New Roman" panose="02020603050405020304" pitchFamily="18" charset="0"/>
            </a:endParaRPr>
          </a:p>
          <a:p>
            <a:pPr marL="0" lvl="0" indent="0" algn="just">
              <a:lnSpc>
                <a:spcPct val="120000"/>
              </a:lnSpc>
              <a:spcBef>
                <a:spcPts val="0"/>
              </a:spcBef>
              <a:buSzPts val="2000"/>
              <a:buNone/>
            </a:pPr>
            <a:r>
              <a:rPr lang="en-IN" sz="8000" dirty="0" smtClean="0">
                <a:latin typeface="Times New Roman" panose="02020603050405020304" pitchFamily="18" charset="0"/>
                <a:cs typeface="Times New Roman" panose="02020603050405020304" pitchFamily="18" charset="0"/>
              </a:rPr>
              <a:t> </a:t>
            </a:r>
            <a:endParaRPr lang="en-IN" sz="8000"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solidFill>
                  <a:srgbClr val="FF0000"/>
                </a:solidFill>
                <a:latin typeface="Times New Roman" panose="02020603050405020304" pitchFamily="18" charset="0"/>
                <a:cs typeface="Times New Roman" panose="02020603050405020304" pitchFamily="18" charset="0"/>
              </a:rPr>
              <a:t>7</a:t>
            </a:fld>
            <a:endParaRPr lang="en-US"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1" name="Google Shape;121;p2"/>
          <p:cNvSpPr txBox="1">
            <a:spLocks noGrp="1"/>
          </p:cNvSpPr>
          <p:nvPr>
            <p:ph idx="1"/>
          </p:nvPr>
        </p:nvSpPr>
        <p:spPr>
          <a:xfrm>
            <a:off x="533400" y="762000"/>
            <a:ext cx="10515600" cy="5638800"/>
          </a:xfrm>
          <a:prstGeom prst="rect">
            <a:avLst/>
          </a:prstGeom>
          <a:noFill/>
          <a:ln>
            <a:solidFill>
              <a:schemeClr val="accent1"/>
            </a:solidFill>
          </a:ln>
        </p:spPr>
        <p:txBody>
          <a:bodyPr spcFirstLastPara="1" wrap="square" lIns="91425" tIns="45700" rIns="91425" bIns="45700" anchor="t" anchorCtr="0">
            <a:normAutofit/>
          </a:bodyPr>
          <a:lstStyle/>
          <a:p>
            <a:pPr marL="0" lvl="0" indent="0" algn="just" rtl="0">
              <a:lnSpc>
                <a:spcPct val="120000"/>
              </a:lnSpc>
              <a:spcBef>
                <a:spcPts val="0"/>
              </a:spcBef>
              <a:spcAft>
                <a:spcPts val="0"/>
              </a:spcAft>
              <a:buSzPts val="2000"/>
              <a:buNone/>
            </a:pPr>
            <a:endParaRPr lang="en-US" dirty="0">
              <a:latin typeface="Times New Roman" panose="02020603050405020304" pitchFamily="18" charset="0"/>
              <a:cs typeface="Times New Roman" panose="02020603050405020304" pitchFamily="18" charset="0"/>
            </a:endParaRPr>
          </a:p>
          <a:p>
            <a:pPr marL="0" lvl="0" indent="0" algn="just" rtl="0">
              <a:lnSpc>
                <a:spcPct val="120000"/>
              </a:lnSpc>
              <a:spcBef>
                <a:spcPts val="0"/>
              </a:spcBef>
              <a:spcAft>
                <a:spcPts val="0"/>
              </a:spcAft>
              <a:buSzPts val="2000"/>
              <a:buNone/>
            </a:pPr>
            <a:endParaRPr lang="en-US" dirty="0">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solidFill>
                  <a:srgbClr val="FF0000"/>
                </a:solidFill>
                <a:latin typeface="Times New Roman" panose="02020603050405020304" pitchFamily="18" charset="0"/>
                <a:cs typeface="Times New Roman" panose="02020603050405020304" pitchFamily="18" charset="0"/>
              </a:rPr>
              <a:t>8</a:t>
            </a:fld>
            <a:endParaRPr lang="en-US" dirty="0">
              <a:solidFill>
                <a:srgbClr val="FF0000"/>
              </a:solidFill>
              <a:latin typeface="Times New Roman" panose="02020603050405020304" pitchFamily="18" charset="0"/>
              <a:cs typeface="Times New Roman" panose="02020603050405020304" pitchFamily="18" charset="0"/>
            </a:endParaRPr>
          </a:p>
        </p:txBody>
      </p:sp>
      <p:sp>
        <p:nvSpPr>
          <p:cNvPr id="2" name="Rectangle 1"/>
          <p:cNvSpPr/>
          <p:nvPr/>
        </p:nvSpPr>
        <p:spPr>
          <a:xfrm>
            <a:off x="533400" y="762000"/>
            <a:ext cx="10159409" cy="5521512"/>
          </a:xfrm>
          <a:prstGeom prst="rect">
            <a:avLst/>
          </a:prstGeom>
        </p:spPr>
        <p:txBody>
          <a:bodyPr wrap="square">
            <a:spAutoFit/>
          </a:bodyPr>
          <a:lstStyle/>
          <a:p>
            <a:pPr lvl="0" algn="just">
              <a:lnSpc>
                <a:spcPct val="120000"/>
              </a:lnSpc>
              <a:buSzPts val="2000"/>
            </a:pPr>
            <a:r>
              <a:rPr lang="en-IN" dirty="0">
                <a:latin typeface="Times New Roman" panose="02020603050405020304" pitchFamily="18" charset="0"/>
                <a:cs typeface="Times New Roman" panose="02020603050405020304" pitchFamily="18" charset="0"/>
              </a:rPr>
              <a:t> 3. Software Development</a:t>
            </a:r>
          </a:p>
          <a:p>
            <a:pPr lvl="0" algn="just">
              <a:lnSpc>
                <a:spcPct val="120000"/>
              </a:lnSpc>
              <a:buSzPts val="2000"/>
            </a:pPr>
            <a:endParaRPr lang="en-IN" dirty="0">
              <a:latin typeface="Times New Roman" panose="02020603050405020304" pitchFamily="18" charset="0"/>
              <a:cs typeface="Times New Roman" panose="02020603050405020304" pitchFamily="18" charset="0"/>
            </a:endParaRPr>
          </a:p>
          <a:p>
            <a:pPr lvl="0" algn="just">
              <a:lnSpc>
                <a:spcPct val="120000"/>
              </a:lnSpc>
              <a:buSzPts val="2000"/>
            </a:pPr>
            <a:r>
              <a:rPr lang="en-IN" dirty="0">
                <a:latin typeface="Times New Roman" panose="02020603050405020304" pitchFamily="18" charset="0"/>
                <a:cs typeface="Times New Roman" panose="02020603050405020304" pitchFamily="18" charset="0"/>
              </a:rPr>
              <a:t>Embedded Programming: The ESP32 is programmed using the </a:t>
            </a:r>
            <a:r>
              <a:rPr lang="en-IN" dirty="0" err="1">
                <a:latin typeface="Times New Roman" panose="02020603050405020304" pitchFamily="18" charset="0"/>
                <a:cs typeface="Times New Roman" panose="02020603050405020304" pitchFamily="18" charset="0"/>
              </a:rPr>
              <a:t>Arduino</a:t>
            </a:r>
            <a:r>
              <a:rPr lang="en-IN" dirty="0">
                <a:latin typeface="Times New Roman" panose="02020603050405020304" pitchFamily="18" charset="0"/>
                <a:cs typeface="Times New Roman" panose="02020603050405020304" pitchFamily="18" charset="0"/>
              </a:rPr>
              <a:t> IDE, utilizing libraries compatible with the sensors and actuators.</a:t>
            </a:r>
          </a:p>
          <a:p>
            <a:pPr lvl="0" algn="just">
              <a:lnSpc>
                <a:spcPct val="120000"/>
              </a:lnSpc>
              <a:buSzPts val="2000"/>
            </a:pPr>
            <a:r>
              <a:rPr lang="en-IN" dirty="0">
                <a:latin typeface="Times New Roman" panose="02020603050405020304" pitchFamily="18" charset="0"/>
                <a:cs typeface="Times New Roman" panose="02020603050405020304" pitchFamily="18" charset="0"/>
              </a:rPr>
              <a:t>Cloud Integration: Data from the sensors are sent to a cloud platform using MQTT protocol, ensuring real-time data access.</a:t>
            </a:r>
          </a:p>
          <a:p>
            <a:pPr lvl="0" algn="just">
              <a:lnSpc>
                <a:spcPct val="120000"/>
              </a:lnSpc>
              <a:buSzPts val="2000"/>
            </a:pPr>
            <a:r>
              <a:rPr lang="en-IN" dirty="0">
                <a:latin typeface="Times New Roman" panose="02020603050405020304" pitchFamily="18" charset="0"/>
                <a:cs typeface="Times New Roman" panose="02020603050405020304" pitchFamily="18" charset="0"/>
              </a:rPr>
              <a:t>Mobile Application: A custom mobile application is developed to display sensor data and allow users to control actuators remotely</a:t>
            </a:r>
            <a:r>
              <a:rPr lang="en-IN" dirty="0" smtClean="0">
                <a:latin typeface="Times New Roman" panose="02020603050405020304" pitchFamily="18" charset="0"/>
                <a:cs typeface="Times New Roman" panose="02020603050405020304" pitchFamily="18" charset="0"/>
              </a:rPr>
              <a:t>.</a:t>
            </a:r>
          </a:p>
          <a:p>
            <a:pPr lvl="0" algn="just">
              <a:lnSpc>
                <a:spcPct val="120000"/>
              </a:lnSpc>
              <a:buSzPts val="2000"/>
            </a:pPr>
            <a:endParaRPr lang="en-IN" dirty="0">
              <a:latin typeface="Times New Roman" panose="02020603050405020304" pitchFamily="18" charset="0"/>
              <a:cs typeface="Times New Roman" panose="02020603050405020304" pitchFamily="18" charset="0"/>
            </a:endParaRPr>
          </a:p>
          <a:p>
            <a:pPr lvl="0" algn="just">
              <a:lnSpc>
                <a:spcPct val="120000"/>
              </a:lnSpc>
              <a:buSzPts val="2000"/>
            </a:pPr>
            <a:r>
              <a:rPr lang="en-IN" dirty="0">
                <a:latin typeface="Times New Roman" panose="02020603050405020304" pitchFamily="18" charset="0"/>
                <a:cs typeface="Times New Roman" panose="02020603050405020304" pitchFamily="18" charset="0"/>
              </a:rPr>
              <a:t> 4. System Operation</a:t>
            </a:r>
          </a:p>
          <a:p>
            <a:pPr lvl="0" algn="just">
              <a:lnSpc>
                <a:spcPct val="120000"/>
              </a:lnSpc>
              <a:buSzPts val="2000"/>
            </a:pPr>
            <a:endParaRPr lang="en-IN" dirty="0">
              <a:latin typeface="Times New Roman" panose="02020603050405020304" pitchFamily="18" charset="0"/>
              <a:cs typeface="Times New Roman" panose="02020603050405020304" pitchFamily="18" charset="0"/>
            </a:endParaRPr>
          </a:p>
          <a:p>
            <a:pPr lvl="0" algn="just">
              <a:lnSpc>
                <a:spcPct val="120000"/>
              </a:lnSpc>
              <a:buSzPts val="2000"/>
            </a:pPr>
            <a:r>
              <a:rPr lang="en-IN" dirty="0" smtClean="0">
                <a:latin typeface="Times New Roman" panose="02020603050405020304" pitchFamily="18" charset="0"/>
                <a:cs typeface="Times New Roman" panose="02020603050405020304" pitchFamily="18" charset="0"/>
              </a:rPr>
              <a:t>Data Collection: </a:t>
            </a:r>
            <a:r>
              <a:rPr lang="en-IN" dirty="0">
                <a:latin typeface="Times New Roman" panose="02020603050405020304" pitchFamily="18" charset="0"/>
                <a:cs typeface="Times New Roman" panose="02020603050405020304" pitchFamily="18" charset="0"/>
              </a:rPr>
              <a:t>Sensors continuously monitor environmental parameters and send data to the ESP32.</a:t>
            </a:r>
          </a:p>
          <a:p>
            <a:pPr lvl="0" algn="just">
              <a:lnSpc>
                <a:spcPct val="120000"/>
              </a:lnSpc>
              <a:buSzPts val="2000"/>
            </a:pPr>
            <a:r>
              <a:rPr lang="en-IN" dirty="0" smtClean="0">
                <a:latin typeface="Times New Roman" panose="02020603050405020304" pitchFamily="18" charset="0"/>
                <a:cs typeface="Times New Roman" panose="02020603050405020304" pitchFamily="18" charset="0"/>
              </a:rPr>
              <a:t>Data Processing: </a:t>
            </a:r>
            <a:r>
              <a:rPr lang="en-IN" dirty="0">
                <a:latin typeface="Times New Roman" panose="02020603050405020304" pitchFamily="18" charset="0"/>
                <a:cs typeface="Times New Roman" panose="02020603050405020304" pitchFamily="18" charset="0"/>
              </a:rPr>
              <a:t>The ESP32 processes the sensor data and compares it with predefined thresholds.</a:t>
            </a:r>
          </a:p>
          <a:p>
            <a:pPr lvl="0" algn="just">
              <a:lnSpc>
                <a:spcPct val="120000"/>
              </a:lnSpc>
              <a:buSzPts val="2000"/>
            </a:pPr>
            <a:r>
              <a:rPr lang="en-IN" dirty="0" smtClean="0">
                <a:latin typeface="Times New Roman" panose="02020603050405020304" pitchFamily="18" charset="0"/>
                <a:cs typeface="Times New Roman" panose="02020603050405020304" pitchFamily="18" charset="0"/>
              </a:rPr>
              <a:t>Control Actions: </a:t>
            </a:r>
            <a:r>
              <a:rPr lang="en-IN" dirty="0">
                <a:latin typeface="Times New Roman" panose="02020603050405020304" pitchFamily="18" charset="0"/>
                <a:cs typeface="Times New Roman" panose="02020603050405020304" pitchFamily="18" charset="0"/>
              </a:rPr>
              <a:t>Based on the processed data, the ESP32 activates or deactivates actuators to maintain optimal growing conditions.</a:t>
            </a:r>
          </a:p>
          <a:p>
            <a:pPr lvl="0" algn="just">
              <a:lnSpc>
                <a:spcPct val="120000"/>
              </a:lnSpc>
              <a:buSzPts val="2000"/>
            </a:pPr>
            <a:r>
              <a:rPr lang="en-IN" dirty="0" smtClean="0">
                <a:latin typeface="Times New Roman" panose="02020603050405020304" pitchFamily="18" charset="0"/>
                <a:cs typeface="Times New Roman" panose="02020603050405020304" pitchFamily="18" charset="0"/>
              </a:rPr>
              <a:t>User Interaction: </a:t>
            </a:r>
            <a:r>
              <a:rPr lang="en-IN" dirty="0">
                <a:latin typeface="Times New Roman" panose="02020603050405020304" pitchFamily="18" charset="0"/>
                <a:cs typeface="Times New Roman" panose="02020603050405020304" pitchFamily="18" charset="0"/>
              </a:rPr>
              <a:t>Users can view real-time data and control the system remotely through the mobile application.</a:t>
            </a:r>
          </a:p>
          <a:p>
            <a:pPr lvl="0" algn="just">
              <a:lnSpc>
                <a:spcPct val="120000"/>
              </a:lnSpc>
              <a:buSzPts val="2000"/>
            </a:pPr>
            <a:endParaRPr lang="en-IN" dirty="0">
              <a:latin typeface="Times New Roman" panose="02020603050405020304" pitchFamily="18" charset="0"/>
              <a:cs typeface="Times New Roman" panose="02020603050405020304" pitchFamily="18" charset="0"/>
            </a:endParaRPr>
          </a:p>
          <a:p>
            <a:pPr lvl="0" algn="just">
              <a:lnSpc>
                <a:spcPct val="120000"/>
              </a:lnSpc>
              <a:buSzPts val="2000"/>
            </a:pPr>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5. </a:t>
            </a:r>
            <a:r>
              <a:rPr lang="en-IN" dirty="0" smtClean="0">
                <a:latin typeface="Times New Roman" panose="02020603050405020304" pitchFamily="18" charset="0"/>
                <a:cs typeface="Times New Roman" panose="02020603050405020304" pitchFamily="18" charset="0"/>
              </a:rPr>
              <a:t>Testing </a:t>
            </a:r>
            <a:r>
              <a:rPr lang="en-IN" dirty="0">
                <a:latin typeface="Times New Roman" panose="02020603050405020304" pitchFamily="18" charset="0"/>
                <a:cs typeface="Times New Roman" panose="02020603050405020304" pitchFamily="18" charset="0"/>
              </a:rPr>
              <a:t>and </a:t>
            </a:r>
            <a:r>
              <a:rPr lang="en-IN" dirty="0" smtClean="0">
                <a:latin typeface="Times New Roman" panose="02020603050405020304" pitchFamily="18" charset="0"/>
                <a:cs typeface="Times New Roman" panose="02020603050405020304" pitchFamily="18" charset="0"/>
              </a:rPr>
              <a:t>Calibration</a:t>
            </a:r>
            <a:endParaRPr lang="en-IN" dirty="0">
              <a:latin typeface="Times New Roman" panose="02020603050405020304" pitchFamily="18" charset="0"/>
              <a:cs typeface="Times New Roman" panose="02020603050405020304" pitchFamily="18" charset="0"/>
            </a:endParaRPr>
          </a:p>
          <a:p>
            <a:pPr lvl="0" algn="just">
              <a:lnSpc>
                <a:spcPct val="120000"/>
              </a:lnSpc>
              <a:buSzPts val="2000"/>
            </a:pPr>
            <a:endParaRPr lang="en-IN" dirty="0">
              <a:latin typeface="Times New Roman" panose="02020603050405020304" pitchFamily="18" charset="0"/>
              <a:cs typeface="Times New Roman" panose="02020603050405020304" pitchFamily="18" charset="0"/>
            </a:endParaRPr>
          </a:p>
          <a:p>
            <a:pPr lvl="0" algn="just">
              <a:lnSpc>
                <a:spcPct val="120000"/>
              </a:lnSpc>
              <a:buSzPts val="2000"/>
            </a:pPr>
            <a:r>
              <a:rPr lang="en-IN" dirty="0" smtClean="0">
                <a:latin typeface="Times New Roman" panose="02020603050405020304" pitchFamily="18" charset="0"/>
                <a:cs typeface="Times New Roman" panose="02020603050405020304" pitchFamily="18" charset="0"/>
              </a:rPr>
              <a:t>Sensor Calibration: </a:t>
            </a:r>
            <a:r>
              <a:rPr lang="en-IN" dirty="0">
                <a:latin typeface="Times New Roman" panose="02020603050405020304" pitchFamily="18" charset="0"/>
                <a:cs typeface="Times New Roman" panose="02020603050405020304" pitchFamily="18" charset="0"/>
              </a:rPr>
              <a:t>Each sensor is calibrated to ensure accurate readings.</a:t>
            </a:r>
          </a:p>
          <a:p>
            <a:pPr lvl="0" algn="just">
              <a:lnSpc>
                <a:spcPct val="120000"/>
              </a:lnSpc>
              <a:buSzPts val="2000"/>
            </a:pPr>
            <a:r>
              <a:rPr lang="en-IN" dirty="0" smtClean="0">
                <a:latin typeface="Times New Roman" panose="02020603050405020304" pitchFamily="18" charset="0"/>
                <a:cs typeface="Times New Roman" panose="02020603050405020304" pitchFamily="18" charset="0"/>
              </a:rPr>
              <a:t>System Testing: </a:t>
            </a:r>
            <a:r>
              <a:rPr lang="en-IN" dirty="0">
                <a:latin typeface="Times New Roman" panose="02020603050405020304" pitchFamily="18" charset="0"/>
                <a:cs typeface="Times New Roman" panose="02020603050405020304" pitchFamily="18" charset="0"/>
              </a:rPr>
              <a:t>The entire system is tested under various conditions to ensure reliable operation.</a:t>
            </a:r>
          </a:p>
          <a:p>
            <a:pPr lvl="0" algn="just">
              <a:lnSpc>
                <a:spcPct val="120000"/>
              </a:lnSpc>
              <a:buSzPts val="2000"/>
            </a:pPr>
            <a:r>
              <a:rPr lang="en-IN" dirty="0" smtClean="0">
                <a:latin typeface="Times New Roman" panose="02020603050405020304" pitchFamily="18" charset="0"/>
                <a:cs typeface="Times New Roman" panose="02020603050405020304" pitchFamily="18" charset="0"/>
              </a:rPr>
              <a:t>Performance Evaluation: </a:t>
            </a:r>
            <a:r>
              <a:rPr lang="en-IN" dirty="0">
                <a:latin typeface="Times New Roman" panose="02020603050405020304" pitchFamily="18" charset="0"/>
                <a:cs typeface="Times New Roman" panose="02020603050405020304" pitchFamily="18" charset="0"/>
              </a:rPr>
              <a:t>The system's performance is evaluated based on its ability to maintain optimal growing conditions and its responsiveness to user inputs.</a:t>
            </a:r>
          </a:p>
          <a:p>
            <a:pPr lvl="0" algn="just">
              <a:lnSpc>
                <a:spcPct val="120000"/>
              </a:lnSpc>
              <a:buSzPts val="2000"/>
            </a:pPr>
            <a:endParaRPr lang="en-IN" dirty="0">
              <a:latin typeface="Times New Roman" panose="02020603050405020304" pitchFamily="18" charset="0"/>
              <a:cs typeface="Times New Roman" panose="02020603050405020304" pitchFamily="18" charset="0"/>
            </a:endParaRPr>
          </a:p>
          <a:p>
            <a:pPr lvl="0" algn="just">
              <a:lnSpc>
                <a:spcPct val="120000"/>
              </a:lnSpc>
              <a:buSzPts val="2000"/>
            </a:pP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1" name="Google Shape;121;p2"/>
          <p:cNvSpPr txBox="1">
            <a:spLocks noGrp="1"/>
          </p:cNvSpPr>
          <p:nvPr>
            <p:ph idx="1"/>
          </p:nvPr>
        </p:nvSpPr>
        <p:spPr>
          <a:xfrm>
            <a:off x="381000" y="457200"/>
            <a:ext cx="11277600" cy="5943600"/>
          </a:xfrm>
          <a:prstGeom prst="rect">
            <a:avLst/>
          </a:prstGeom>
          <a:noFill/>
          <a:ln>
            <a:noFill/>
          </a:ln>
        </p:spPr>
        <p:txBody>
          <a:bodyPr spcFirstLastPara="1" wrap="square" lIns="91425" tIns="45700" rIns="91425" bIns="45700" anchor="t" anchorCtr="0">
            <a:normAutofit fontScale="32500" lnSpcReduction="20000"/>
          </a:bodyPr>
          <a:lstStyle/>
          <a:p>
            <a:pPr lvl="0" indent="-457200" algn="just">
              <a:lnSpc>
                <a:spcPct val="120000"/>
              </a:lnSpc>
              <a:spcBef>
                <a:spcPts val="0"/>
              </a:spcBef>
              <a:buSzPts val="2000"/>
              <a:buAutoNum type="arabicPeriod"/>
            </a:pPr>
            <a:r>
              <a:rPr lang="en-IN"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1. **System Design and Architecture**</a:t>
            </a:r>
          </a:p>
          <a:p>
            <a:pPr lvl="0" indent="-457200" algn="just">
              <a:lnSpc>
                <a:spcPct val="120000"/>
              </a:lnSpc>
              <a:spcBef>
                <a:spcPts val="0"/>
              </a:spcBef>
              <a:buSzPts val="2000"/>
              <a:buAutoNum type="arabicPeriod"/>
            </a:pPr>
            <a:endParaRPr lang="en-IN" dirty="0">
              <a:latin typeface="Times New Roman" panose="02020603050405020304" pitchFamily="18" charset="0"/>
              <a:cs typeface="Times New Roman" panose="02020603050405020304" pitchFamily="18" charset="0"/>
            </a:endParaRP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The system employs a **centralized </a:t>
            </a:r>
            <a:r>
              <a:rPr lang="en-IN" dirty="0" err="1">
                <a:latin typeface="Times New Roman" panose="02020603050405020304" pitchFamily="18" charset="0"/>
                <a:cs typeface="Times New Roman" panose="02020603050405020304" pitchFamily="18" charset="0"/>
              </a:rPr>
              <a:t>IoT</a:t>
            </a:r>
            <a:r>
              <a:rPr lang="en-IN" dirty="0">
                <a:latin typeface="Times New Roman" panose="02020603050405020304" pitchFamily="18" charset="0"/>
                <a:cs typeface="Times New Roman" panose="02020603050405020304" pitchFamily="18" charset="0"/>
              </a:rPr>
              <a:t> architecture** utilizing an **ESP32 microcontroller** as the core processing unit. This microcontroller interfaces with various sensors and actuators to monitor and control the hydroponic environment. Data from the sensors are transmitted to a cloud platform, enabling remote monitoring and control via a mobile application.</a:t>
            </a:r>
          </a:p>
          <a:p>
            <a:pPr lvl="0" indent="-457200" algn="just">
              <a:lnSpc>
                <a:spcPct val="120000"/>
              </a:lnSpc>
              <a:spcBef>
                <a:spcPts val="0"/>
              </a:spcBef>
              <a:buSzPts val="2000"/>
              <a:buAutoNum type="arabicPeriod"/>
            </a:pPr>
            <a:endParaRPr lang="en-IN" dirty="0">
              <a:latin typeface="Times New Roman" panose="02020603050405020304" pitchFamily="18" charset="0"/>
              <a:cs typeface="Times New Roman" panose="02020603050405020304" pitchFamily="18" charset="0"/>
            </a:endParaRP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 2. **Hardware Components**</a:t>
            </a:r>
          </a:p>
          <a:p>
            <a:pPr lvl="0" indent="-457200" algn="just">
              <a:lnSpc>
                <a:spcPct val="120000"/>
              </a:lnSpc>
              <a:spcBef>
                <a:spcPts val="0"/>
              </a:spcBef>
              <a:buSzPts val="2000"/>
              <a:buAutoNum type="arabicPeriod"/>
            </a:pPr>
            <a:endParaRPr lang="en-IN" dirty="0">
              <a:latin typeface="Times New Roman" panose="02020603050405020304" pitchFamily="18" charset="0"/>
              <a:cs typeface="Times New Roman" panose="02020603050405020304" pitchFamily="18" charset="0"/>
            </a:endParaRP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 **Microcontroller**: ESP32, chosen for its Wi-Fi and Bluetooth capabilities, facilitating seamless communication.</a:t>
            </a: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 **Sensors**:</a:t>
            </a:r>
          </a:p>
          <a:p>
            <a:pPr lvl="0" indent="-457200" algn="just">
              <a:lnSpc>
                <a:spcPct val="120000"/>
              </a:lnSpc>
              <a:spcBef>
                <a:spcPts val="0"/>
              </a:spcBef>
              <a:buSzPts val="2000"/>
              <a:buAutoNum type="arabicPeriod"/>
            </a:pPr>
            <a:endParaRPr lang="en-IN" dirty="0">
              <a:latin typeface="Times New Roman" panose="02020603050405020304" pitchFamily="18" charset="0"/>
              <a:cs typeface="Times New Roman" panose="02020603050405020304" pitchFamily="18" charset="0"/>
            </a:endParaRP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  * **pH Sensor**: Monitors the acidity of the nutrient solution.</a:t>
            </a: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  * **TDS (Total Dissolved Solids) Sensor**: Measures the concentration of dissolved nutrients.</a:t>
            </a: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  * **Temperature and Humidity Sensor**: Tracks environmental conditions.</a:t>
            </a: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  * **Water Level Sensor**: Detects the water level in the reservoir.</a:t>
            </a: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 **Actuators**:</a:t>
            </a:r>
          </a:p>
          <a:p>
            <a:pPr lvl="0" indent="-457200" algn="just">
              <a:lnSpc>
                <a:spcPct val="120000"/>
              </a:lnSpc>
              <a:spcBef>
                <a:spcPts val="0"/>
              </a:spcBef>
              <a:buSzPts val="2000"/>
              <a:buAutoNum type="arabicPeriod"/>
            </a:pPr>
            <a:endParaRPr lang="en-IN" dirty="0">
              <a:latin typeface="Times New Roman" panose="02020603050405020304" pitchFamily="18" charset="0"/>
              <a:cs typeface="Times New Roman" panose="02020603050405020304" pitchFamily="18" charset="0"/>
            </a:endParaRP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  * **Peristaltic Pumps**: Control the addition of pH adjusters and nutrients.</a:t>
            </a: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  * **Water Pump**: Circulates water within the system.</a:t>
            </a: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  * **LED Grow Lights**: Provide necessary light for plant growth.</a:t>
            </a:r>
          </a:p>
          <a:p>
            <a:pPr lvl="0" indent="-457200" algn="just">
              <a:lnSpc>
                <a:spcPct val="120000"/>
              </a:lnSpc>
              <a:spcBef>
                <a:spcPts val="0"/>
              </a:spcBef>
              <a:buSzPts val="2000"/>
              <a:buAutoNum type="arabicPeriod"/>
            </a:pPr>
            <a:endParaRPr lang="en-IN" dirty="0">
              <a:latin typeface="Times New Roman" panose="02020603050405020304" pitchFamily="18" charset="0"/>
              <a:cs typeface="Times New Roman" panose="02020603050405020304" pitchFamily="18" charset="0"/>
            </a:endParaRP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 3. **Software Development**</a:t>
            </a:r>
          </a:p>
          <a:p>
            <a:pPr lvl="0" indent="-457200" algn="just">
              <a:lnSpc>
                <a:spcPct val="120000"/>
              </a:lnSpc>
              <a:spcBef>
                <a:spcPts val="0"/>
              </a:spcBef>
              <a:buSzPts val="2000"/>
              <a:buAutoNum type="arabicPeriod"/>
            </a:pPr>
            <a:endParaRPr lang="en-IN" dirty="0">
              <a:latin typeface="Times New Roman" panose="02020603050405020304" pitchFamily="18" charset="0"/>
              <a:cs typeface="Times New Roman" panose="02020603050405020304" pitchFamily="18" charset="0"/>
            </a:endParaRP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 **Embedded Programming**: The ESP32 is programmed using the </a:t>
            </a:r>
            <a:r>
              <a:rPr lang="en-IN" dirty="0" err="1">
                <a:latin typeface="Times New Roman" panose="02020603050405020304" pitchFamily="18" charset="0"/>
                <a:cs typeface="Times New Roman" panose="02020603050405020304" pitchFamily="18" charset="0"/>
              </a:rPr>
              <a:t>Arduino</a:t>
            </a:r>
            <a:r>
              <a:rPr lang="en-IN" dirty="0">
                <a:latin typeface="Times New Roman" panose="02020603050405020304" pitchFamily="18" charset="0"/>
                <a:cs typeface="Times New Roman" panose="02020603050405020304" pitchFamily="18" charset="0"/>
              </a:rPr>
              <a:t> IDE, utilizing libraries compatible with the sensors and actuators.</a:t>
            </a: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 **Cloud Integration**: Data from the sensors are sent to a cloud platform using MQTT protocol, ensuring real-time data access.</a:t>
            </a: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 **Mobile Application**: A custom mobile application is developed to display sensor data and allow users to control actuators remotely.</a:t>
            </a:r>
          </a:p>
          <a:p>
            <a:pPr lvl="0" indent="-457200" algn="just">
              <a:lnSpc>
                <a:spcPct val="120000"/>
              </a:lnSpc>
              <a:spcBef>
                <a:spcPts val="0"/>
              </a:spcBef>
              <a:buSzPts val="2000"/>
              <a:buAutoNum type="arabicPeriod"/>
            </a:pPr>
            <a:endParaRPr lang="en-IN" dirty="0">
              <a:latin typeface="Times New Roman" panose="02020603050405020304" pitchFamily="18" charset="0"/>
              <a:cs typeface="Times New Roman" panose="02020603050405020304" pitchFamily="18" charset="0"/>
            </a:endParaRP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 4. **System Operation**</a:t>
            </a:r>
          </a:p>
          <a:p>
            <a:pPr lvl="0" indent="-457200" algn="just">
              <a:lnSpc>
                <a:spcPct val="120000"/>
              </a:lnSpc>
              <a:spcBef>
                <a:spcPts val="0"/>
              </a:spcBef>
              <a:buSzPts val="2000"/>
              <a:buAutoNum type="arabicPeriod"/>
            </a:pPr>
            <a:endParaRPr lang="en-IN" dirty="0">
              <a:latin typeface="Times New Roman" panose="02020603050405020304" pitchFamily="18" charset="0"/>
              <a:cs typeface="Times New Roman" panose="02020603050405020304" pitchFamily="18" charset="0"/>
            </a:endParaRP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 **Data Collection**: Sensors continuously monitor environmental parameters and send data to the ESP32.</a:t>
            </a: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 **Data Processing**: The ESP32 processes the sensor data and compares it with predefined thresholds.</a:t>
            </a: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 **Control Actions**: Based on the processed data, the ESP32 activates or deactivates actuators to maintain optimal growing conditions.</a:t>
            </a: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 **User Interaction**: Users can view real-time data and control the system remotely through the mobile application.</a:t>
            </a:r>
          </a:p>
          <a:p>
            <a:pPr lvl="0" indent="-457200" algn="just">
              <a:lnSpc>
                <a:spcPct val="120000"/>
              </a:lnSpc>
              <a:spcBef>
                <a:spcPts val="0"/>
              </a:spcBef>
              <a:buSzPts val="2000"/>
              <a:buAutoNum type="arabicPeriod"/>
            </a:pPr>
            <a:endParaRPr lang="en-IN" dirty="0">
              <a:latin typeface="Times New Roman" panose="02020603050405020304" pitchFamily="18" charset="0"/>
              <a:cs typeface="Times New Roman" panose="02020603050405020304" pitchFamily="18" charset="0"/>
            </a:endParaRP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 5. **Testing and Calibration**</a:t>
            </a:r>
          </a:p>
          <a:p>
            <a:pPr lvl="0" indent="-457200" algn="just">
              <a:lnSpc>
                <a:spcPct val="120000"/>
              </a:lnSpc>
              <a:spcBef>
                <a:spcPts val="0"/>
              </a:spcBef>
              <a:buSzPts val="2000"/>
              <a:buAutoNum type="arabicPeriod"/>
            </a:pPr>
            <a:endParaRPr lang="en-IN" dirty="0">
              <a:latin typeface="Times New Roman" panose="02020603050405020304" pitchFamily="18" charset="0"/>
              <a:cs typeface="Times New Roman" panose="02020603050405020304" pitchFamily="18" charset="0"/>
            </a:endParaRP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 **Sensor Calibration**: Each sensor is calibrated to ensure accurate readings.</a:t>
            </a: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 **System Testing**: The entire system is tested under various conditions to ensure reliable operation.</a:t>
            </a: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 **Performance Evaluation**: The system's performance is evaluated based on its ability to maintain optimal growing conditions and its responsiveness to user inputs.</a:t>
            </a:r>
          </a:p>
          <a:p>
            <a:pPr lvl="0" indent="-457200" algn="just">
              <a:lnSpc>
                <a:spcPct val="120000"/>
              </a:lnSpc>
              <a:spcBef>
                <a:spcPts val="0"/>
              </a:spcBef>
              <a:buSzPts val="2000"/>
              <a:buAutoNum type="arabicPeriod"/>
            </a:pPr>
            <a:endParaRPr lang="en-IN" dirty="0">
              <a:latin typeface="Times New Roman" panose="02020603050405020304" pitchFamily="18" charset="0"/>
              <a:cs typeface="Times New Roman" panose="02020603050405020304" pitchFamily="18" charset="0"/>
            </a:endParaRP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a:t>
            </a:r>
          </a:p>
          <a:p>
            <a:pPr lvl="0" indent="-457200" algn="just">
              <a:lnSpc>
                <a:spcPct val="120000"/>
              </a:lnSpc>
              <a:spcBef>
                <a:spcPts val="0"/>
              </a:spcBef>
              <a:buSzPts val="2000"/>
              <a:buAutoNum type="arabicPeriod"/>
            </a:pPr>
            <a:endParaRPr lang="en-IN" dirty="0">
              <a:latin typeface="Times New Roman" panose="02020603050405020304" pitchFamily="18" charset="0"/>
              <a:cs typeface="Times New Roman" panose="02020603050405020304" pitchFamily="18" charset="0"/>
            </a:endParaRP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This methodology outlines the systematic approach taken to develop an </a:t>
            </a:r>
            <a:r>
              <a:rPr lang="en-IN" dirty="0" err="1">
                <a:latin typeface="Times New Roman" panose="02020603050405020304" pitchFamily="18" charset="0"/>
                <a:cs typeface="Times New Roman" panose="02020603050405020304" pitchFamily="18" charset="0"/>
              </a:rPr>
              <a:t>IoT</a:t>
            </a:r>
            <a:r>
              <a:rPr lang="en-IN" dirty="0">
                <a:latin typeface="Times New Roman" panose="02020603050405020304" pitchFamily="18" charset="0"/>
                <a:cs typeface="Times New Roman" panose="02020603050405020304" pitchFamily="18" charset="0"/>
              </a:rPr>
              <a:t>-based hydroponic system capable of monitoring and controlling environmental parameters to promote sustainable and efficient vegetable growth.</a:t>
            </a:r>
          </a:p>
          <a:p>
            <a:pPr lvl="0" indent="-457200" algn="just">
              <a:lnSpc>
                <a:spcPct val="120000"/>
              </a:lnSpc>
              <a:spcBef>
                <a:spcPts val="0"/>
              </a:spcBef>
              <a:buSzPts val="2000"/>
              <a:buAutoNum type="arabicPeriod"/>
            </a:pPr>
            <a:endParaRPr lang="en-IN" dirty="0">
              <a:latin typeface="Times New Roman" panose="02020603050405020304" pitchFamily="18" charset="0"/>
              <a:cs typeface="Times New Roman" panose="02020603050405020304" pitchFamily="18" charset="0"/>
            </a:endParaRPr>
          </a:p>
          <a:p>
            <a:pPr lvl="0" indent="-457200" algn="just">
              <a:lnSpc>
                <a:spcPct val="120000"/>
              </a:lnSpc>
              <a:spcBef>
                <a:spcPts val="0"/>
              </a:spcBef>
              <a:buSzPts val="2000"/>
              <a:buAutoNum type="arabicPeriod"/>
            </a:pPr>
            <a:r>
              <a:rPr lang="en-IN" dirty="0">
                <a:latin typeface="Times New Roman" panose="02020603050405020304" pitchFamily="18" charset="0"/>
                <a:cs typeface="Times New Roman" panose="02020603050405020304" pitchFamily="18" charset="0"/>
              </a:rPr>
              <a:t>If you require further details or assistance with specific aspects of the project, feel free to ask!</a:t>
            </a:r>
          </a:p>
          <a:p>
            <a:pPr lvl="0" indent="-457200" algn="just" rtl="0">
              <a:lnSpc>
                <a:spcPct val="120000"/>
              </a:lnSpc>
              <a:spcBef>
                <a:spcPts val="0"/>
              </a:spcBef>
              <a:spcAft>
                <a:spcPts val="0"/>
              </a:spcAft>
              <a:buSzPts val="2000"/>
              <a:buAutoNum type="arabicPeriod"/>
            </a:pPr>
            <a:endParaRPr lang="en-GB"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a:xfrm>
            <a:off x="152401" y="5791200"/>
            <a:ext cx="914399" cy="309201"/>
          </a:xfrm>
        </p:spPr>
        <p:txBody>
          <a:bodyPr/>
          <a:lstStyle/>
          <a:p>
            <a:fld id="{B9387537-A641-4ED1-8E3A-472CCC77C9A0}" type="datetime1">
              <a:rPr lang="en-US" sz="1400" smtClean="0">
                <a:solidFill>
                  <a:srgbClr val="FF0000"/>
                </a:solidFill>
                <a:latin typeface="Times New Roman" panose="02020603050405020304" pitchFamily="18" charset="0"/>
                <a:cs typeface="Times New Roman" panose="02020603050405020304" pitchFamily="18" charset="0"/>
              </a:rPr>
              <a:t>9/12/2025</a:t>
            </a:fld>
            <a:endParaRPr lang="en-US" sz="1400" dirty="0">
              <a:solidFill>
                <a:srgbClr val="FF000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solidFill>
                  <a:srgbClr val="FF0000"/>
                </a:solidFill>
                <a:latin typeface="Times New Roman" panose="02020603050405020304" pitchFamily="18" charset="0"/>
                <a:cs typeface="Times New Roman" panose="02020603050405020304" pitchFamily="18" charset="0"/>
              </a:rPr>
              <a:t>9</a:t>
            </a:fld>
            <a:endParaRPr lang="en-US"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092BFD1-D2D3-126F-17C6-8856DD932E20}"/>
              </a:ext>
            </a:extLst>
          </p:cNvPr>
          <p:cNvSpPr>
            <a:spLocks noGrp="1"/>
          </p:cNvSpPr>
          <p:nvPr>
            <p:ph type="title"/>
          </p:nvPr>
        </p:nvSpPr>
        <p:spPr/>
        <p:txBody>
          <a:bodyPr>
            <a:normAutofit/>
          </a:bodyPr>
          <a:lstStyle/>
          <a:p>
            <a:r>
              <a:rPr lang="en-IN" b="1" dirty="0">
                <a:latin typeface="Times New Roman" panose="02020603050405020304" pitchFamily="18" charset="0"/>
                <a:cs typeface="Times New Roman" panose="02020603050405020304" pitchFamily="18" charset="0"/>
              </a:rPr>
              <a:t>Hardware Implementation</a:t>
            </a:r>
          </a:p>
        </p:txBody>
      </p:sp>
      <p:sp>
        <p:nvSpPr>
          <p:cNvPr id="3" name="Text Placeholder 2">
            <a:extLst>
              <a:ext uri="{FF2B5EF4-FFF2-40B4-BE49-F238E27FC236}">
                <a16:creationId xmlns:a16="http://schemas.microsoft.com/office/drawing/2014/main" xmlns="" id="{68560EA1-0001-0BE8-24B9-F4B2EC40F89F}"/>
              </a:ext>
            </a:extLst>
          </p:cNvPr>
          <p:cNvSpPr>
            <a:spLocks noGrp="1"/>
          </p:cNvSpPr>
          <p:nvPr>
            <p:ph idx="1"/>
          </p:nvPr>
        </p:nvSpPr>
        <p:spPr>
          <a:xfrm>
            <a:off x="1451579" y="2015732"/>
            <a:ext cx="9603275" cy="3927868"/>
          </a:xfrm>
        </p:spPr>
        <p:txBody>
          <a:bodyPr/>
          <a:lstStyle/>
          <a:p>
            <a:endParaRPr lang="en-IN" dirty="0"/>
          </a:p>
        </p:txBody>
      </p:sp>
      <p:sp>
        <p:nvSpPr>
          <p:cNvPr id="4" name="Date Placeholder 3">
            <a:extLst>
              <a:ext uri="{FF2B5EF4-FFF2-40B4-BE49-F238E27FC236}">
                <a16:creationId xmlns:a16="http://schemas.microsoft.com/office/drawing/2014/main" xmlns="" id="{986EE8C3-8910-0536-CF45-05C3FE6E193D}"/>
              </a:ext>
            </a:extLst>
          </p:cNvPr>
          <p:cNvSpPr>
            <a:spLocks noGrp="1"/>
          </p:cNvSpPr>
          <p:nvPr>
            <p:ph type="dt" sz="half" idx="10"/>
          </p:nvPr>
        </p:nvSpPr>
        <p:spPr/>
        <p:txBody>
          <a:bodyPr/>
          <a:lstStyle/>
          <a:p>
            <a:fld id="{1C5F2C70-485B-4CD2-A99B-7F1D7D0ACFDF}" type="datetime1">
              <a:rPr lang="en-US" smtClean="0"/>
              <a:t>9/12/2025</a:t>
            </a:fld>
            <a:endParaRPr lang="en-US"/>
          </a:p>
        </p:txBody>
      </p:sp>
      <p:sp>
        <p:nvSpPr>
          <p:cNvPr id="5" name="Slide Number Placeholder 4">
            <a:extLst>
              <a:ext uri="{FF2B5EF4-FFF2-40B4-BE49-F238E27FC236}">
                <a16:creationId xmlns:a16="http://schemas.microsoft.com/office/drawing/2014/main" xmlns="" id="{1A1C1AF5-0FED-0478-F817-F04334EAF4D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10</a:t>
            </a:fld>
            <a:endParaRPr lang="en-US"/>
          </a:p>
        </p:txBody>
      </p:sp>
      <p:pic>
        <p:nvPicPr>
          <p:cNvPr id="6" name="Picture 5">
            <a:extLst>
              <a:ext uri="{FF2B5EF4-FFF2-40B4-BE49-F238E27FC236}">
                <a16:creationId xmlns:a16="http://schemas.microsoft.com/office/drawing/2014/main" xmlns="" id="{DBE13CFA-CA3E-5AE6-33EB-9BA70136AE0E}"/>
              </a:ext>
            </a:extLst>
          </p:cNvPr>
          <p:cNvPicPr>
            <a:picLocks noChangeAspect="1"/>
          </p:cNvPicPr>
          <p:nvPr/>
        </p:nvPicPr>
        <p:blipFill>
          <a:blip r:embed="rId2"/>
          <a:stretch>
            <a:fillRect/>
          </a:stretch>
        </p:blipFill>
        <p:spPr>
          <a:xfrm>
            <a:off x="1995369" y="2115811"/>
            <a:ext cx="3460258" cy="1943725"/>
          </a:xfrm>
          <a:prstGeom prst="rect">
            <a:avLst/>
          </a:prstGeom>
        </p:spPr>
      </p:pic>
      <p:pic>
        <p:nvPicPr>
          <p:cNvPr id="7" name="Picture 6">
            <a:extLst>
              <a:ext uri="{FF2B5EF4-FFF2-40B4-BE49-F238E27FC236}">
                <a16:creationId xmlns:a16="http://schemas.microsoft.com/office/drawing/2014/main" xmlns="" id="{9DDF696B-734A-ABAC-0559-5F25AFA821FB}"/>
              </a:ext>
            </a:extLst>
          </p:cNvPr>
          <p:cNvPicPr>
            <a:picLocks noChangeAspect="1"/>
          </p:cNvPicPr>
          <p:nvPr/>
        </p:nvPicPr>
        <p:blipFill>
          <a:blip r:embed="rId3"/>
          <a:stretch>
            <a:fillRect/>
          </a:stretch>
        </p:blipFill>
        <p:spPr>
          <a:xfrm>
            <a:off x="6835877" y="2115810"/>
            <a:ext cx="3338631" cy="1943725"/>
          </a:xfrm>
          <a:prstGeom prst="rect">
            <a:avLst/>
          </a:prstGeom>
        </p:spPr>
      </p:pic>
      <p:pic>
        <p:nvPicPr>
          <p:cNvPr id="8" name="Picture 7">
            <a:extLst>
              <a:ext uri="{FF2B5EF4-FFF2-40B4-BE49-F238E27FC236}">
                <a16:creationId xmlns:a16="http://schemas.microsoft.com/office/drawing/2014/main" xmlns="" id="{7822CA6C-47A0-F9D8-989C-6C1F9D4B8C21}"/>
              </a:ext>
            </a:extLst>
          </p:cNvPr>
          <p:cNvPicPr>
            <a:picLocks noChangeAspect="1"/>
          </p:cNvPicPr>
          <p:nvPr/>
        </p:nvPicPr>
        <p:blipFill>
          <a:blip r:embed="rId4"/>
          <a:stretch>
            <a:fillRect/>
          </a:stretch>
        </p:blipFill>
        <p:spPr>
          <a:xfrm>
            <a:off x="4614916" y="4232434"/>
            <a:ext cx="3276600" cy="1811244"/>
          </a:xfrm>
          <a:prstGeom prst="rect">
            <a:avLst/>
          </a:prstGeom>
        </p:spPr>
      </p:pic>
    </p:spTree>
    <p:extLst>
      <p:ext uri="{BB962C8B-B14F-4D97-AF65-F5344CB8AC3E}">
        <p14:creationId xmlns:p14="http://schemas.microsoft.com/office/powerpoint/2010/main" val="34191044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1" name="Google Shape;121;p2"/>
          <p:cNvSpPr txBox="1">
            <a:spLocks noGrp="1"/>
          </p:cNvSpPr>
          <p:nvPr>
            <p:ph idx="1"/>
          </p:nvPr>
        </p:nvSpPr>
        <p:spPr>
          <a:xfrm>
            <a:off x="1066800" y="1905000"/>
            <a:ext cx="10439399" cy="4040800"/>
          </a:xfrm>
          <a:prstGeom prst="rect">
            <a:avLst/>
          </a:prstGeom>
          <a:noFill/>
          <a:ln>
            <a:noFill/>
          </a:ln>
        </p:spPr>
        <p:txBody>
          <a:bodyPr spcFirstLastPara="1" wrap="square" lIns="91425" tIns="45700" rIns="91425" bIns="45700" anchor="t" anchorCtr="0">
            <a:normAutofit/>
          </a:bodyPr>
          <a:lstStyle/>
          <a:p>
            <a:pPr marL="0" lvl="0" indent="0" algn="just" rtl="0">
              <a:lnSpc>
                <a:spcPct val="120000"/>
              </a:lnSpc>
              <a:spcBef>
                <a:spcPts val="0"/>
              </a:spcBef>
              <a:spcAft>
                <a:spcPts val="0"/>
              </a:spcAft>
              <a:buSzPts val="2000"/>
              <a:buNone/>
            </a:pPr>
            <a:endParaRPr lang="en-GB" dirty="0">
              <a:latin typeface="Times New Roman" panose="02020603050405020304" pitchFamily="18" charset="0"/>
              <a:cs typeface="Times New Roman" panose="02020603050405020304" pitchFamily="18" charset="0"/>
            </a:endParaRPr>
          </a:p>
          <a:p>
            <a:pPr marL="0" lvl="0" indent="0" algn="just" rtl="0">
              <a:lnSpc>
                <a:spcPct val="120000"/>
              </a:lnSpc>
              <a:spcBef>
                <a:spcPts val="0"/>
              </a:spcBef>
              <a:spcAft>
                <a:spcPts val="0"/>
              </a:spcAft>
              <a:buSzPts val="2000"/>
              <a:buNone/>
            </a:pPr>
            <a:endParaRPr lang="en-GB" dirty="0">
              <a:latin typeface="Times New Roman" panose="02020603050405020304" pitchFamily="18" charset="0"/>
              <a:cs typeface="Times New Roman" panose="02020603050405020304" pitchFamily="18" charset="0"/>
            </a:endParaRPr>
          </a:p>
          <a:p>
            <a:pPr marL="0" lvl="0" indent="0" algn="just" rtl="0">
              <a:lnSpc>
                <a:spcPct val="120000"/>
              </a:lnSpc>
              <a:spcBef>
                <a:spcPts val="0"/>
              </a:spcBef>
              <a:spcAft>
                <a:spcPts val="0"/>
              </a:spcAft>
              <a:buSzPts val="2000"/>
              <a:buNone/>
            </a:pPr>
            <a:endParaRPr lang="en-GB" dirty="0">
              <a:latin typeface="Times New Roman" panose="02020603050405020304" pitchFamily="18" charset="0"/>
              <a:cs typeface="Times New Roman" panose="02020603050405020304" pitchFamily="18" charset="0"/>
            </a:endParaRPr>
          </a:p>
          <a:p>
            <a:pPr marL="0" lvl="0" indent="0" algn="just" rtl="0">
              <a:lnSpc>
                <a:spcPct val="120000"/>
              </a:lnSpc>
              <a:spcBef>
                <a:spcPts val="0"/>
              </a:spcBef>
              <a:spcAft>
                <a:spcPts val="0"/>
              </a:spcAft>
              <a:buSzPts val="2000"/>
              <a:buNone/>
            </a:pPr>
            <a:endParaRPr lang="en-GB" dirty="0">
              <a:latin typeface="Times New Roman" panose="02020603050405020304" pitchFamily="18" charset="0"/>
              <a:cs typeface="Times New Roman" panose="02020603050405020304" pitchFamily="18" charset="0"/>
            </a:endParaRPr>
          </a:p>
          <a:p>
            <a:pPr marL="0" lvl="0" indent="0" algn="just" rtl="0">
              <a:lnSpc>
                <a:spcPct val="120000"/>
              </a:lnSpc>
              <a:spcBef>
                <a:spcPts val="0"/>
              </a:spcBef>
              <a:spcAft>
                <a:spcPts val="0"/>
              </a:spcAft>
              <a:buSzPts val="2000"/>
              <a:buNone/>
            </a:pPr>
            <a:endParaRPr lang="en-GB"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a:xfrm>
            <a:off x="152401" y="5791200"/>
            <a:ext cx="914399" cy="309201"/>
          </a:xfrm>
        </p:spPr>
        <p:txBody>
          <a:bodyPr/>
          <a:lstStyle/>
          <a:p>
            <a:fld id="{B9387537-A641-4ED1-8E3A-472CCC77C9A0}" type="datetime1">
              <a:rPr lang="en-US" sz="1400" smtClean="0">
                <a:solidFill>
                  <a:srgbClr val="FF0000"/>
                </a:solidFill>
                <a:latin typeface="Times New Roman" panose="02020603050405020304" pitchFamily="18" charset="0"/>
                <a:cs typeface="Times New Roman" panose="02020603050405020304" pitchFamily="18" charset="0"/>
              </a:rPr>
              <a:t>9/12/2025</a:t>
            </a:fld>
            <a:endParaRPr lang="en-US" sz="1400" dirty="0">
              <a:solidFill>
                <a:srgbClr val="FF000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solidFill>
                  <a:srgbClr val="FF0000"/>
                </a:solidFill>
                <a:latin typeface="Times New Roman" panose="02020603050405020304" pitchFamily="18" charset="0"/>
                <a:cs typeface="Times New Roman" panose="02020603050405020304" pitchFamily="18" charset="0"/>
              </a:rPr>
              <a:t>11</a:t>
            </a:fld>
            <a:endParaRPr lang="en-US" dirty="0">
              <a:solidFill>
                <a:srgbClr val="FF0000"/>
              </a:solidFill>
              <a:latin typeface="Times New Roman" panose="02020603050405020304" pitchFamily="18" charset="0"/>
              <a:cs typeface="Times New Roman" panose="02020603050405020304" pitchFamily="18" charset="0"/>
            </a:endParaRPr>
          </a:p>
        </p:txBody>
      </p:sp>
      <p:sp>
        <p:nvSpPr>
          <p:cNvPr id="6" name="Rectangle 5"/>
          <p:cNvSpPr/>
          <p:nvPr/>
        </p:nvSpPr>
        <p:spPr>
          <a:xfrm>
            <a:off x="1600200" y="-236619"/>
            <a:ext cx="9296400" cy="5521512"/>
          </a:xfrm>
          <a:prstGeom prst="rect">
            <a:avLst/>
          </a:prstGeom>
        </p:spPr>
        <p:txBody>
          <a:bodyPr wrap="square">
            <a:spAutoFit/>
          </a:bodyPr>
          <a:lstStyle/>
          <a:p>
            <a:pPr lvl="0" indent="-457200" algn="just">
              <a:lnSpc>
                <a:spcPct val="120000"/>
              </a:lnSpc>
              <a:buSzPts val="2000"/>
              <a:buAutoNum type="arabicPeriod"/>
            </a:pPr>
            <a:r>
              <a:rPr lang="en-IN" dirty="0">
                <a:latin typeface="Times New Roman" panose="02020603050405020304" pitchFamily="18" charset="0"/>
                <a:cs typeface="Times New Roman" panose="02020603050405020304" pitchFamily="18" charset="0"/>
              </a:rPr>
              <a:t>### 4. **System Operation**</a:t>
            </a:r>
          </a:p>
          <a:p>
            <a:pPr lvl="0" indent="-457200" algn="just">
              <a:lnSpc>
                <a:spcPct val="120000"/>
              </a:lnSpc>
              <a:buSzPts val="2000"/>
              <a:buAutoNum type="arabicPeriod"/>
            </a:pPr>
            <a:endParaRPr lang="en-IN" dirty="0">
              <a:latin typeface="Times New Roman" panose="02020603050405020304" pitchFamily="18" charset="0"/>
              <a:cs typeface="Times New Roman" panose="02020603050405020304" pitchFamily="18" charset="0"/>
            </a:endParaRPr>
          </a:p>
          <a:p>
            <a:pPr lvl="0" indent="-457200" algn="just">
              <a:lnSpc>
                <a:spcPct val="120000"/>
              </a:lnSpc>
              <a:buSzPts val="2000"/>
              <a:buAutoNum type="arabicPeriod"/>
            </a:pPr>
            <a:r>
              <a:rPr lang="en-IN" dirty="0">
                <a:latin typeface="Times New Roman" panose="02020603050405020304" pitchFamily="18" charset="0"/>
                <a:cs typeface="Times New Roman" panose="02020603050405020304" pitchFamily="18" charset="0"/>
              </a:rPr>
              <a:t>* **Data Collection**: Sensors continuously monitor environmental parameters and send data to the ESP32.</a:t>
            </a:r>
          </a:p>
          <a:p>
            <a:pPr lvl="0" indent="-457200" algn="just">
              <a:lnSpc>
                <a:spcPct val="120000"/>
              </a:lnSpc>
              <a:buSzPts val="2000"/>
              <a:buAutoNum type="arabicPeriod"/>
            </a:pPr>
            <a:r>
              <a:rPr lang="en-IN" dirty="0">
                <a:latin typeface="Times New Roman" panose="02020603050405020304" pitchFamily="18" charset="0"/>
                <a:cs typeface="Times New Roman" panose="02020603050405020304" pitchFamily="18" charset="0"/>
              </a:rPr>
              <a:t>* **Data Processing**: The ESP32 processes the sensor data and compares it with predefined thresholds.</a:t>
            </a:r>
          </a:p>
          <a:p>
            <a:pPr lvl="0" indent="-457200" algn="just">
              <a:lnSpc>
                <a:spcPct val="120000"/>
              </a:lnSpc>
              <a:buSzPts val="2000"/>
              <a:buAutoNum type="arabicPeriod"/>
            </a:pPr>
            <a:r>
              <a:rPr lang="en-IN" dirty="0">
                <a:latin typeface="Times New Roman" panose="02020603050405020304" pitchFamily="18" charset="0"/>
                <a:cs typeface="Times New Roman" panose="02020603050405020304" pitchFamily="18" charset="0"/>
              </a:rPr>
              <a:t>* **Control Actions**: Based on the processed data, the ESP32 activates or deactivates actuators to maintain optimal growing conditions.</a:t>
            </a:r>
          </a:p>
          <a:p>
            <a:pPr lvl="0" indent="-457200" algn="just">
              <a:lnSpc>
                <a:spcPct val="120000"/>
              </a:lnSpc>
              <a:buSzPts val="2000"/>
              <a:buAutoNum type="arabicPeriod"/>
            </a:pPr>
            <a:r>
              <a:rPr lang="en-IN" dirty="0">
                <a:latin typeface="Times New Roman" panose="02020603050405020304" pitchFamily="18" charset="0"/>
                <a:cs typeface="Times New Roman" panose="02020603050405020304" pitchFamily="18" charset="0"/>
              </a:rPr>
              <a:t>* **User Interaction**: Users can view real-time data and control the system remotely through the mobile application.</a:t>
            </a:r>
          </a:p>
          <a:p>
            <a:pPr lvl="0" indent="-457200" algn="just">
              <a:lnSpc>
                <a:spcPct val="120000"/>
              </a:lnSpc>
              <a:buSzPts val="2000"/>
              <a:buAutoNum type="arabicPeriod"/>
            </a:pPr>
            <a:endParaRPr lang="en-IN" dirty="0">
              <a:latin typeface="Times New Roman" panose="02020603050405020304" pitchFamily="18" charset="0"/>
              <a:cs typeface="Times New Roman" panose="02020603050405020304" pitchFamily="18" charset="0"/>
            </a:endParaRPr>
          </a:p>
          <a:p>
            <a:pPr lvl="0" indent="-457200" algn="just">
              <a:lnSpc>
                <a:spcPct val="120000"/>
              </a:lnSpc>
              <a:buSzPts val="2000"/>
              <a:buAutoNum type="arabicPeriod"/>
            </a:pPr>
            <a:r>
              <a:rPr lang="en-IN" dirty="0">
                <a:latin typeface="Times New Roman" panose="02020603050405020304" pitchFamily="18" charset="0"/>
                <a:cs typeface="Times New Roman" panose="02020603050405020304" pitchFamily="18" charset="0"/>
              </a:rPr>
              <a:t>### 5. **Testing and Calibration**</a:t>
            </a:r>
          </a:p>
          <a:p>
            <a:pPr lvl="0" indent="-457200" algn="just">
              <a:lnSpc>
                <a:spcPct val="120000"/>
              </a:lnSpc>
              <a:buSzPts val="2000"/>
              <a:buAutoNum type="arabicPeriod"/>
            </a:pPr>
            <a:endParaRPr lang="en-IN" dirty="0">
              <a:latin typeface="Times New Roman" panose="02020603050405020304" pitchFamily="18" charset="0"/>
              <a:cs typeface="Times New Roman" panose="02020603050405020304" pitchFamily="18" charset="0"/>
            </a:endParaRPr>
          </a:p>
          <a:p>
            <a:pPr lvl="0" indent="-457200" algn="just">
              <a:lnSpc>
                <a:spcPct val="120000"/>
              </a:lnSpc>
              <a:buSzPts val="2000"/>
              <a:buAutoNum type="arabicPeriod"/>
            </a:pPr>
            <a:r>
              <a:rPr lang="en-IN" dirty="0">
                <a:latin typeface="Times New Roman" panose="02020603050405020304" pitchFamily="18" charset="0"/>
                <a:cs typeface="Times New Roman" panose="02020603050405020304" pitchFamily="18" charset="0"/>
              </a:rPr>
              <a:t>* **Sensor Calibration**: Each sensor is calibrated to ensure accurate readings.</a:t>
            </a:r>
          </a:p>
          <a:p>
            <a:pPr lvl="0" indent="-457200" algn="just">
              <a:lnSpc>
                <a:spcPct val="120000"/>
              </a:lnSpc>
              <a:buSzPts val="2000"/>
              <a:buAutoNum type="arabicPeriod"/>
            </a:pPr>
            <a:r>
              <a:rPr lang="en-IN" dirty="0">
                <a:latin typeface="Times New Roman" panose="02020603050405020304" pitchFamily="18" charset="0"/>
                <a:cs typeface="Times New Roman" panose="02020603050405020304" pitchFamily="18" charset="0"/>
              </a:rPr>
              <a:t>* **System Testing**: The entire system is tested under various conditions to ensure reliable operation.</a:t>
            </a:r>
          </a:p>
          <a:p>
            <a:pPr lvl="0" indent="-457200" algn="just">
              <a:lnSpc>
                <a:spcPct val="120000"/>
              </a:lnSpc>
              <a:buSzPts val="2000"/>
              <a:buAutoNum type="arabicPeriod"/>
            </a:pPr>
            <a:r>
              <a:rPr lang="en-IN" dirty="0">
                <a:latin typeface="Times New Roman" panose="02020603050405020304" pitchFamily="18" charset="0"/>
                <a:cs typeface="Times New Roman" panose="02020603050405020304" pitchFamily="18" charset="0"/>
              </a:rPr>
              <a:t>* **Performance Evaluation**: The system's performance is evaluated based on its ability to maintain optimal growing conditions and its responsiveness to user inputs.</a:t>
            </a:r>
          </a:p>
          <a:p>
            <a:pPr lvl="0" indent="-457200" algn="just">
              <a:lnSpc>
                <a:spcPct val="120000"/>
              </a:lnSpc>
              <a:buSzPts val="2000"/>
              <a:buAutoNum type="arabicPeriod"/>
            </a:pPr>
            <a:endParaRPr lang="en-IN" dirty="0">
              <a:latin typeface="Times New Roman" panose="02020603050405020304" pitchFamily="18" charset="0"/>
              <a:cs typeface="Times New Roman" panose="02020603050405020304" pitchFamily="18" charset="0"/>
            </a:endParaRPr>
          </a:p>
          <a:p>
            <a:pPr lvl="0" indent="-457200" algn="just">
              <a:lnSpc>
                <a:spcPct val="120000"/>
              </a:lnSpc>
              <a:buSzPts val="2000"/>
              <a:buAutoNum type="arabicPeriod"/>
            </a:pPr>
            <a:r>
              <a:rPr lang="en-IN" dirty="0">
                <a:latin typeface="Times New Roman" panose="02020603050405020304" pitchFamily="18" charset="0"/>
                <a:cs typeface="Times New Roman" panose="02020603050405020304" pitchFamily="18" charset="0"/>
              </a:rPr>
              <a:t>---</a:t>
            </a:r>
          </a:p>
          <a:p>
            <a:pPr lvl="0" indent="-457200" algn="just">
              <a:lnSpc>
                <a:spcPct val="120000"/>
              </a:lnSpc>
              <a:buSzPts val="2000"/>
              <a:buAutoNum type="arabicPeriod"/>
            </a:pPr>
            <a:endParaRPr lang="en-IN" dirty="0">
              <a:latin typeface="Times New Roman" panose="02020603050405020304" pitchFamily="18" charset="0"/>
              <a:cs typeface="Times New Roman" panose="02020603050405020304" pitchFamily="18" charset="0"/>
            </a:endParaRPr>
          </a:p>
          <a:p>
            <a:pPr lvl="0" indent="-457200" algn="just">
              <a:lnSpc>
                <a:spcPct val="120000"/>
              </a:lnSpc>
              <a:buSzPts val="2000"/>
              <a:buAutoNum type="arabicPeriod"/>
            </a:pPr>
            <a:r>
              <a:rPr lang="en-IN" dirty="0">
                <a:latin typeface="Times New Roman" panose="02020603050405020304" pitchFamily="18" charset="0"/>
                <a:cs typeface="Times New Roman" panose="02020603050405020304" pitchFamily="18" charset="0"/>
              </a:rPr>
              <a:t>This methodology outlines the systematic approach taken to develop an </a:t>
            </a:r>
            <a:r>
              <a:rPr lang="en-IN" dirty="0" err="1">
                <a:latin typeface="Times New Roman" panose="02020603050405020304" pitchFamily="18" charset="0"/>
                <a:cs typeface="Times New Roman" panose="02020603050405020304" pitchFamily="18" charset="0"/>
              </a:rPr>
              <a:t>IoT</a:t>
            </a:r>
            <a:r>
              <a:rPr lang="en-IN" dirty="0">
                <a:latin typeface="Times New Roman" panose="02020603050405020304" pitchFamily="18" charset="0"/>
                <a:cs typeface="Times New Roman" panose="02020603050405020304" pitchFamily="18" charset="0"/>
              </a:rPr>
              <a:t>-based hydroponic system capable of monitoring and controlling environmental parameters to promote sustainable and efficient vegetable growth.</a:t>
            </a:r>
          </a:p>
          <a:p>
            <a:pPr lvl="0" indent="-457200" algn="just">
              <a:lnSpc>
                <a:spcPct val="120000"/>
              </a:lnSpc>
              <a:buSzPts val="2000"/>
              <a:buAutoNum type="arabicPeriod"/>
            </a:pPr>
            <a:endParaRPr lang="en-IN" dirty="0">
              <a:latin typeface="Times New Roman" panose="02020603050405020304" pitchFamily="18" charset="0"/>
              <a:cs typeface="Times New Roman" panose="02020603050405020304" pitchFamily="18" charset="0"/>
            </a:endParaRPr>
          </a:p>
          <a:p>
            <a:pPr lvl="0" indent="-457200" algn="just">
              <a:lnSpc>
                <a:spcPct val="120000"/>
              </a:lnSpc>
              <a:buSzPts val="2000"/>
              <a:buAutoNum type="arabicPeriod"/>
            </a:pPr>
            <a:r>
              <a:rPr lang="en-IN" dirty="0">
                <a:latin typeface="Times New Roman" panose="02020603050405020304" pitchFamily="18" charset="0"/>
                <a:cs typeface="Times New Roman" panose="02020603050405020304" pitchFamily="18" charset="0"/>
              </a:rPr>
              <a:t>If you </a:t>
            </a:r>
            <a:r>
              <a:rPr lang="en-IN" dirty="0" err="1">
                <a:latin typeface="Times New Roman" panose="02020603050405020304" pitchFamily="18" charset="0"/>
                <a:cs typeface="Times New Roman" panose="02020603050405020304" pitchFamily="18" charset="0"/>
              </a:rPr>
              <a:t>requir</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E6AF425-6066-FF8D-EDFA-C7CC8748B7BB}"/>
              </a:ext>
            </a:extLst>
          </p:cNvPr>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Results and Discussion</a:t>
            </a:r>
            <a:endParaRPr lang="en-IN" dirty="0"/>
          </a:p>
        </p:txBody>
      </p:sp>
      <p:sp>
        <p:nvSpPr>
          <p:cNvPr id="3" name="Text Placeholder 2">
            <a:extLst>
              <a:ext uri="{FF2B5EF4-FFF2-40B4-BE49-F238E27FC236}">
                <a16:creationId xmlns:a16="http://schemas.microsoft.com/office/drawing/2014/main" xmlns="" id="{625C587B-D678-CA16-263A-10725E9A052D}"/>
              </a:ext>
            </a:extLst>
          </p:cNvPr>
          <p:cNvSpPr>
            <a:spLocks noGrp="1"/>
          </p:cNvSpPr>
          <p:nvPr>
            <p:ph idx="1"/>
          </p:nvPr>
        </p:nvSpPr>
        <p:spPr>
          <a:xfrm>
            <a:off x="1451579" y="2133600"/>
            <a:ext cx="9603275" cy="3450613"/>
          </a:xfrm>
        </p:spPr>
        <p:txBody>
          <a:bodyPr>
            <a:normAutofit/>
          </a:bodyPr>
          <a:lstStyle/>
          <a:p>
            <a:pPr algn="just">
              <a:buFont typeface="Wingdings" pitchFamily="2" charset="2"/>
              <a:buChar char="Ø"/>
            </a:pP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xmlns="" id="{0CE33151-C11D-4319-7897-B12474431B6D}"/>
              </a:ext>
            </a:extLst>
          </p:cNvPr>
          <p:cNvSpPr>
            <a:spLocks noGrp="1"/>
          </p:cNvSpPr>
          <p:nvPr>
            <p:ph type="dt" sz="half" idx="10"/>
          </p:nvPr>
        </p:nvSpPr>
        <p:spPr/>
        <p:txBody>
          <a:bodyPr/>
          <a:lstStyle/>
          <a:p>
            <a:fld id="{1C5F2C70-485B-4CD2-A99B-7F1D7D0ACFDF}" type="datetime1">
              <a:rPr lang="en-US" smtClean="0"/>
              <a:t>9/12/2025</a:t>
            </a:fld>
            <a:endParaRPr lang="en-US"/>
          </a:p>
        </p:txBody>
      </p:sp>
      <p:sp>
        <p:nvSpPr>
          <p:cNvPr id="5" name="Slide Number Placeholder 4">
            <a:extLst>
              <a:ext uri="{FF2B5EF4-FFF2-40B4-BE49-F238E27FC236}">
                <a16:creationId xmlns:a16="http://schemas.microsoft.com/office/drawing/2014/main" xmlns="" id="{AC4A5D53-6DB0-6EA0-DE6E-7E1B6ECC594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12</a:t>
            </a:fld>
            <a:endParaRPr lang="en-US"/>
          </a:p>
        </p:txBody>
      </p:sp>
      <p:sp>
        <p:nvSpPr>
          <p:cNvPr id="6" name="Rectangle 5"/>
          <p:cNvSpPr/>
          <p:nvPr/>
        </p:nvSpPr>
        <p:spPr>
          <a:xfrm>
            <a:off x="3048000" y="-1141482"/>
            <a:ext cx="6096000" cy="9140964"/>
          </a:xfrm>
          <a:prstGeom prst="rect">
            <a:avLst/>
          </a:prstGeom>
        </p:spPr>
        <p:txBody>
          <a:bodyPr>
            <a:spAutoFit/>
          </a:bodyPr>
          <a:lstStyle/>
          <a:p>
            <a:pPr lvl="0" algn="just">
              <a:lnSpc>
                <a:spcPct val="120000"/>
              </a:lnSpc>
              <a:buSzPts val="2000"/>
            </a:pPr>
            <a:r>
              <a:rPr lang="en-IN" dirty="0">
                <a:latin typeface="Times New Roman" panose="02020603050405020304" pitchFamily="18" charset="0"/>
                <a:cs typeface="Times New Roman" panose="02020603050405020304" pitchFamily="18" charset="0"/>
              </a:rPr>
              <a:t>* **Peristaltic Pumps**: Control the addition of pH adjusters and nutrients.</a:t>
            </a:r>
          </a:p>
          <a:p>
            <a:pPr lvl="0" algn="just">
              <a:lnSpc>
                <a:spcPct val="120000"/>
              </a:lnSpc>
              <a:buSzPts val="2000"/>
            </a:pPr>
            <a:r>
              <a:rPr lang="en-IN" dirty="0">
                <a:latin typeface="Times New Roman" panose="02020603050405020304" pitchFamily="18" charset="0"/>
                <a:cs typeface="Times New Roman" panose="02020603050405020304" pitchFamily="18" charset="0"/>
              </a:rPr>
              <a:t>  * **Water Pump**: Circulates water within the system.</a:t>
            </a:r>
          </a:p>
          <a:p>
            <a:pPr lvl="0" algn="just">
              <a:lnSpc>
                <a:spcPct val="120000"/>
              </a:lnSpc>
              <a:buSzPts val="2000"/>
            </a:pPr>
            <a:r>
              <a:rPr lang="en-IN" dirty="0">
                <a:latin typeface="Times New Roman" panose="02020603050405020304" pitchFamily="18" charset="0"/>
                <a:cs typeface="Times New Roman" panose="02020603050405020304" pitchFamily="18" charset="0"/>
              </a:rPr>
              <a:t>  * **LED Grow Lights**: Provide necessary light for plant growth.</a:t>
            </a:r>
          </a:p>
          <a:p>
            <a:pPr lvl="0" algn="just">
              <a:lnSpc>
                <a:spcPct val="120000"/>
              </a:lnSpc>
              <a:buSzPts val="2000"/>
            </a:pPr>
            <a:endParaRPr lang="en-IN" dirty="0">
              <a:latin typeface="Times New Roman" panose="02020603050405020304" pitchFamily="18" charset="0"/>
              <a:cs typeface="Times New Roman" panose="02020603050405020304" pitchFamily="18" charset="0"/>
            </a:endParaRPr>
          </a:p>
          <a:p>
            <a:pPr lvl="0" algn="just">
              <a:lnSpc>
                <a:spcPct val="120000"/>
              </a:lnSpc>
              <a:buSzPts val="2000"/>
            </a:pPr>
            <a:r>
              <a:rPr lang="en-IN" dirty="0">
                <a:latin typeface="Times New Roman" panose="02020603050405020304" pitchFamily="18" charset="0"/>
                <a:cs typeface="Times New Roman" panose="02020603050405020304" pitchFamily="18" charset="0"/>
              </a:rPr>
              <a:t>### 3. **Software Development**</a:t>
            </a:r>
          </a:p>
          <a:p>
            <a:pPr lvl="0" algn="just">
              <a:lnSpc>
                <a:spcPct val="120000"/>
              </a:lnSpc>
              <a:buSzPts val="2000"/>
            </a:pPr>
            <a:endParaRPr lang="en-IN" dirty="0">
              <a:latin typeface="Times New Roman" panose="02020603050405020304" pitchFamily="18" charset="0"/>
              <a:cs typeface="Times New Roman" panose="02020603050405020304" pitchFamily="18" charset="0"/>
            </a:endParaRPr>
          </a:p>
          <a:p>
            <a:pPr lvl="0" algn="just">
              <a:lnSpc>
                <a:spcPct val="120000"/>
              </a:lnSpc>
              <a:buSzPts val="2000"/>
            </a:pPr>
            <a:r>
              <a:rPr lang="en-IN" dirty="0">
                <a:latin typeface="Times New Roman" panose="02020603050405020304" pitchFamily="18" charset="0"/>
                <a:cs typeface="Times New Roman" panose="02020603050405020304" pitchFamily="18" charset="0"/>
              </a:rPr>
              <a:t>* **Embedded Programming**: The ESP32 is programmed using the </a:t>
            </a:r>
            <a:r>
              <a:rPr lang="en-IN" dirty="0" err="1">
                <a:latin typeface="Times New Roman" panose="02020603050405020304" pitchFamily="18" charset="0"/>
                <a:cs typeface="Times New Roman" panose="02020603050405020304" pitchFamily="18" charset="0"/>
              </a:rPr>
              <a:t>Arduino</a:t>
            </a:r>
            <a:r>
              <a:rPr lang="en-IN" dirty="0">
                <a:latin typeface="Times New Roman" panose="02020603050405020304" pitchFamily="18" charset="0"/>
                <a:cs typeface="Times New Roman" panose="02020603050405020304" pitchFamily="18" charset="0"/>
              </a:rPr>
              <a:t> IDE, utilizing libraries compatible with the sensors and actuators.</a:t>
            </a:r>
          </a:p>
          <a:p>
            <a:pPr lvl="0" algn="just">
              <a:lnSpc>
                <a:spcPct val="120000"/>
              </a:lnSpc>
              <a:buSzPts val="2000"/>
            </a:pPr>
            <a:r>
              <a:rPr lang="en-IN" dirty="0">
                <a:latin typeface="Times New Roman" panose="02020603050405020304" pitchFamily="18" charset="0"/>
                <a:cs typeface="Times New Roman" panose="02020603050405020304" pitchFamily="18" charset="0"/>
              </a:rPr>
              <a:t>* **Cloud Integration**: Data from the sensors are sent to a cloud platform using MQTT protocol, ensuring real-time data access.</a:t>
            </a:r>
          </a:p>
          <a:p>
            <a:pPr lvl="0" algn="just">
              <a:lnSpc>
                <a:spcPct val="120000"/>
              </a:lnSpc>
              <a:buSzPts val="2000"/>
            </a:pPr>
            <a:r>
              <a:rPr lang="en-IN" dirty="0">
                <a:latin typeface="Times New Roman" panose="02020603050405020304" pitchFamily="18" charset="0"/>
                <a:cs typeface="Times New Roman" panose="02020603050405020304" pitchFamily="18" charset="0"/>
              </a:rPr>
              <a:t>* **Mobile Application**: A custom mobile application is developed to display sensor data and allow users to control actuators remotely.</a:t>
            </a:r>
          </a:p>
          <a:p>
            <a:pPr lvl="0" algn="just">
              <a:lnSpc>
                <a:spcPct val="120000"/>
              </a:lnSpc>
              <a:buSzPts val="2000"/>
            </a:pPr>
            <a:endParaRPr lang="en-IN" dirty="0">
              <a:latin typeface="Times New Roman" panose="02020603050405020304" pitchFamily="18" charset="0"/>
              <a:cs typeface="Times New Roman" panose="02020603050405020304" pitchFamily="18" charset="0"/>
            </a:endParaRPr>
          </a:p>
          <a:p>
            <a:pPr lvl="0" algn="just">
              <a:lnSpc>
                <a:spcPct val="120000"/>
              </a:lnSpc>
              <a:buSzPts val="2000"/>
            </a:pPr>
            <a:r>
              <a:rPr lang="en-IN" dirty="0">
                <a:latin typeface="Times New Roman" panose="02020603050405020304" pitchFamily="18" charset="0"/>
                <a:cs typeface="Times New Roman" panose="02020603050405020304" pitchFamily="18" charset="0"/>
              </a:rPr>
              <a:t>### 4. **System Operation**</a:t>
            </a:r>
          </a:p>
          <a:p>
            <a:pPr lvl="0" algn="just">
              <a:lnSpc>
                <a:spcPct val="120000"/>
              </a:lnSpc>
              <a:buSzPts val="2000"/>
            </a:pPr>
            <a:endParaRPr lang="en-IN" dirty="0">
              <a:latin typeface="Times New Roman" panose="02020603050405020304" pitchFamily="18" charset="0"/>
              <a:cs typeface="Times New Roman" panose="02020603050405020304" pitchFamily="18" charset="0"/>
            </a:endParaRPr>
          </a:p>
          <a:p>
            <a:pPr lvl="0" algn="just">
              <a:lnSpc>
                <a:spcPct val="120000"/>
              </a:lnSpc>
              <a:buSzPts val="2000"/>
            </a:pPr>
            <a:r>
              <a:rPr lang="en-IN" dirty="0">
                <a:latin typeface="Times New Roman" panose="02020603050405020304" pitchFamily="18" charset="0"/>
                <a:cs typeface="Times New Roman" panose="02020603050405020304" pitchFamily="18" charset="0"/>
              </a:rPr>
              <a:t>* **Data Collection**: Sensors continuously monitor environmental parameters and send data to the ESP32.</a:t>
            </a:r>
          </a:p>
          <a:p>
            <a:pPr lvl="0" algn="just">
              <a:lnSpc>
                <a:spcPct val="120000"/>
              </a:lnSpc>
              <a:buSzPts val="2000"/>
            </a:pPr>
            <a:r>
              <a:rPr lang="en-IN" dirty="0">
                <a:latin typeface="Times New Roman" panose="02020603050405020304" pitchFamily="18" charset="0"/>
                <a:cs typeface="Times New Roman" panose="02020603050405020304" pitchFamily="18" charset="0"/>
              </a:rPr>
              <a:t>* **Data Processing**: The ESP32 processes the sensor data and compares it with predefined thresholds.</a:t>
            </a:r>
          </a:p>
          <a:p>
            <a:pPr lvl="0" algn="just">
              <a:lnSpc>
                <a:spcPct val="120000"/>
              </a:lnSpc>
              <a:buSzPts val="2000"/>
            </a:pPr>
            <a:r>
              <a:rPr lang="en-IN" dirty="0">
                <a:latin typeface="Times New Roman" panose="02020603050405020304" pitchFamily="18" charset="0"/>
                <a:cs typeface="Times New Roman" panose="02020603050405020304" pitchFamily="18" charset="0"/>
              </a:rPr>
              <a:t>* **Control Actions**: Based on the processed data, the ESP32 activates or deactivates actuators to maintain optimal growing conditions.</a:t>
            </a:r>
          </a:p>
          <a:p>
            <a:pPr lvl="0" algn="just">
              <a:lnSpc>
                <a:spcPct val="120000"/>
              </a:lnSpc>
              <a:buSzPts val="2000"/>
            </a:pPr>
            <a:r>
              <a:rPr lang="en-IN" dirty="0">
                <a:latin typeface="Times New Roman" panose="02020603050405020304" pitchFamily="18" charset="0"/>
                <a:cs typeface="Times New Roman" panose="02020603050405020304" pitchFamily="18" charset="0"/>
              </a:rPr>
              <a:t>* **User Interaction**: Users can view real-time data and control the system remotely through the mobile application.</a:t>
            </a:r>
          </a:p>
          <a:p>
            <a:pPr lvl="0" algn="just">
              <a:lnSpc>
                <a:spcPct val="120000"/>
              </a:lnSpc>
              <a:buSzPts val="2000"/>
            </a:pPr>
            <a:endParaRPr lang="en-IN" dirty="0">
              <a:latin typeface="Times New Roman" panose="02020603050405020304" pitchFamily="18" charset="0"/>
              <a:cs typeface="Times New Roman" panose="02020603050405020304" pitchFamily="18" charset="0"/>
            </a:endParaRPr>
          </a:p>
          <a:p>
            <a:pPr lvl="0" algn="just">
              <a:lnSpc>
                <a:spcPct val="120000"/>
              </a:lnSpc>
              <a:buSzPts val="2000"/>
            </a:pPr>
            <a:r>
              <a:rPr lang="en-IN" dirty="0">
                <a:latin typeface="Times New Roman" panose="02020603050405020304" pitchFamily="18" charset="0"/>
                <a:cs typeface="Times New Roman" panose="02020603050405020304" pitchFamily="18" charset="0"/>
              </a:rPr>
              <a:t>### 5. **Testing and Calibration**</a:t>
            </a:r>
          </a:p>
          <a:p>
            <a:pPr lvl="0" algn="just">
              <a:lnSpc>
                <a:spcPct val="120000"/>
              </a:lnSpc>
              <a:buSzPts val="2000"/>
            </a:pPr>
            <a:endParaRPr lang="en-IN" dirty="0">
              <a:latin typeface="Times New Roman" panose="02020603050405020304" pitchFamily="18" charset="0"/>
              <a:cs typeface="Times New Roman" panose="02020603050405020304" pitchFamily="18" charset="0"/>
            </a:endParaRPr>
          </a:p>
          <a:p>
            <a:pPr lvl="0" algn="just">
              <a:lnSpc>
                <a:spcPct val="120000"/>
              </a:lnSpc>
              <a:buSzPts val="2000"/>
            </a:pPr>
            <a:r>
              <a:rPr lang="en-IN" dirty="0">
                <a:latin typeface="Times New Roman" panose="02020603050405020304" pitchFamily="18" charset="0"/>
                <a:cs typeface="Times New Roman" panose="02020603050405020304" pitchFamily="18" charset="0"/>
              </a:rPr>
              <a:t>* **Sensor Calibration**: Each sensor is calibrated to ensure accurate readings.</a:t>
            </a:r>
          </a:p>
          <a:p>
            <a:pPr lvl="0" algn="just">
              <a:lnSpc>
                <a:spcPct val="120000"/>
              </a:lnSpc>
              <a:buSzPts val="2000"/>
            </a:pPr>
            <a:r>
              <a:rPr lang="en-IN" dirty="0">
                <a:latin typeface="Times New Roman" panose="02020603050405020304" pitchFamily="18" charset="0"/>
                <a:cs typeface="Times New Roman" panose="02020603050405020304" pitchFamily="18" charset="0"/>
              </a:rPr>
              <a:t>* **System Testing**: The entire system is tested under various conditions to ensure reliable operation.</a:t>
            </a:r>
          </a:p>
          <a:p>
            <a:pPr lvl="0" algn="just">
              <a:lnSpc>
                <a:spcPct val="120000"/>
              </a:lnSpc>
              <a:buSzPts val="2000"/>
            </a:pPr>
            <a:r>
              <a:rPr lang="en-IN" dirty="0">
                <a:latin typeface="Times New Roman" panose="02020603050405020304" pitchFamily="18" charset="0"/>
                <a:cs typeface="Times New Roman" panose="02020603050405020304" pitchFamily="18" charset="0"/>
              </a:rPr>
              <a:t>* **Performance Evaluation**: The system's performance is evaluated based on its ability to maintain optimal growing conditions and its responsiveness to user inputs.</a:t>
            </a:r>
          </a:p>
          <a:p>
            <a:pPr lvl="0" algn="just">
              <a:lnSpc>
                <a:spcPct val="120000"/>
              </a:lnSpc>
              <a:buSzPts val="2000"/>
            </a:pPr>
            <a:endParaRPr lang="en-IN" dirty="0">
              <a:latin typeface="Times New Roman" panose="02020603050405020304" pitchFamily="18" charset="0"/>
              <a:cs typeface="Times New Roman" panose="02020603050405020304" pitchFamily="18" charset="0"/>
            </a:endParaRPr>
          </a:p>
          <a:p>
            <a:pPr lvl="0" algn="just">
              <a:lnSpc>
                <a:spcPct val="120000"/>
              </a:lnSpc>
              <a:buSzPts val="2000"/>
            </a:pPr>
            <a:r>
              <a:rPr lang="en-IN" dirty="0">
                <a:latin typeface="Times New Roman" panose="02020603050405020304" pitchFamily="18" charset="0"/>
                <a:cs typeface="Times New Roman" panose="02020603050405020304" pitchFamily="18" charset="0"/>
              </a:rPr>
              <a:t>---</a:t>
            </a:r>
          </a:p>
          <a:p>
            <a:pPr lvl="0" algn="just">
              <a:lnSpc>
                <a:spcPct val="120000"/>
              </a:lnSpc>
              <a:buSzPts val="2000"/>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1815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
          <p:cNvSpPr txBox="1">
            <a:spLocks noGrp="1"/>
          </p:cNvSpPr>
          <p:nvPr>
            <p:ph type="title"/>
          </p:nvPr>
        </p:nvSpPr>
        <p:spPr>
          <a:xfrm>
            <a:off x="1371569" y="685774"/>
            <a:ext cx="9603300" cy="1049100"/>
          </a:xfrm>
          <a:prstGeom prst="rect">
            <a:avLst/>
          </a:prstGeom>
          <a:noFill/>
          <a:ln>
            <a:noFill/>
          </a:ln>
        </p:spPr>
        <p:txBody>
          <a:bodyPr spcFirstLastPara="1" wrap="square" lIns="91425" tIns="45700" rIns="91425" bIns="45700" anchor="t" anchorCtr="0">
            <a:normAutofit/>
          </a:bodyPr>
          <a:lstStyle/>
          <a:p>
            <a:pPr marL="0" lvl="0" indent="0" algn="l" rtl="0" fontAlgn="ctr">
              <a:lnSpc>
                <a:spcPct val="90000"/>
              </a:lnSpc>
              <a:spcBef>
                <a:spcPts val="0"/>
              </a:spcBef>
              <a:spcAft>
                <a:spcPts val="0"/>
              </a:spcAft>
              <a:buClr>
                <a:schemeClr val="dk1"/>
              </a:buClr>
              <a:buSzPts val="3200"/>
              <a:buFont typeface="Gill Sans" panose="020B0502020104020203"/>
              <a:buNone/>
            </a:pPr>
            <a:r>
              <a:rPr lang="en-IN" b="1" dirty="0">
                <a:latin typeface="Times New Roman" panose="02020603050405020304" pitchFamily="18" charset="0"/>
                <a:cs typeface="Times New Roman" panose="02020603050405020304" pitchFamily="18" charset="0"/>
              </a:rPr>
              <a:t>Application of the system</a:t>
            </a:r>
            <a:endParaRPr b="1">
              <a:latin typeface="Times New Roman" panose="02020603050405020304" pitchFamily="18" charset="0"/>
              <a:cs typeface="Times New Roman" panose="02020603050405020304" pitchFamily="18" charset="0"/>
            </a:endParaRPr>
          </a:p>
        </p:txBody>
      </p:sp>
      <p:sp>
        <p:nvSpPr>
          <p:cNvPr id="121" name="Google Shape;121;p2"/>
          <p:cNvSpPr txBox="1">
            <a:spLocks noGrp="1"/>
          </p:cNvSpPr>
          <p:nvPr>
            <p:ph idx="1"/>
          </p:nvPr>
        </p:nvSpPr>
        <p:spPr>
          <a:xfrm>
            <a:off x="1413510" y="2057400"/>
            <a:ext cx="9657080" cy="4724400"/>
          </a:xfrm>
          <a:prstGeom prst="rect">
            <a:avLst/>
          </a:prstGeom>
          <a:noFill/>
          <a:ln>
            <a:noFill/>
          </a:ln>
        </p:spPr>
        <p:txBody>
          <a:bodyPr spcFirstLastPara="1" wrap="square" lIns="91425" tIns="45700" rIns="91425" bIns="45700" anchor="t" anchorCtr="0">
            <a:noAutofit/>
          </a:bodyPr>
          <a:lstStyle/>
          <a:p>
            <a:pPr marL="342900" lvl="0" algn="just" rtl="0">
              <a:lnSpc>
                <a:spcPct val="120000"/>
              </a:lnSpc>
              <a:spcBef>
                <a:spcPts val="0"/>
              </a:spcBef>
              <a:spcAft>
                <a:spcPts val="0"/>
              </a:spcAft>
              <a:buSzPts val="2000"/>
              <a:buFont typeface="Wingdings" panose="05000000000000000000" charset="0"/>
              <a:buChar char="Ø"/>
            </a:pPr>
            <a:r>
              <a:rPr lang="en-US" altLang="en-US" sz="1900" dirty="0">
                <a:latin typeface="Times New Roman" panose="02020603050405020304" pitchFamily="18" charset="0"/>
                <a:cs typeface="Times New Roman" panose="02020603050405020304" pitchFamily="18" charset="0"/>
              </a:rPr>
              <a:t> Public information displays</a:t>
            </a:r>
          </a:p>
          <a:p>
            <a:pPr marL="342900" lvl="0" algn="just" rtl="0">
              <a:lnSpc>
                <a:spcPct val="120000"/>
              </a:lnSpc>
              <a:spcBef>
                <a:spcPts val="0"/>
              </a:spcBef>
              <a:spcAft>
                <a:spcPts val="0"/>
              </a:spcAft>
              <a:buSzPts val="2000"/>
              <a:buFont typeface="Wingdings" panose="05000000000000000000" charset="0"/>
              <a:buChar char="Ø"/>
            </a:pPr>
            <a:endParaRPr lang="en-US" altLang="en-US" sz="1900" dirty="0">
              <a:latin typeface="Times New Roman" panose="02020603050405020304" pitchFamily="18" charset="0"/>
              <a:cs typeface="Times New Roman" panose="02020603050405020304" pitchFamily="18" charset="0"/>
            </a:endParaRPr>
          </a:p>
          <a:p>
            <a:pPr marL="342900" lvl="0" algn="just" rtl="0">
              <a:lnSpc>
                <a:spcPct val="120000"/>
              </a:lnSpc>
              <a:spcBef>
                <a:spcPts val="0"/>
              </a:spcBef>
              <a:spcAft>
                <a:spcPts val="0"/>
              </a:spcAft>
              <a:buSzPts val="2000"/>
              <a:buFont typeface="Wingdings" panose="05000000000000000000" charset="0"/>
              <a:buChar char="Ø"/>
            </a:pPr>
            <a:r>
              <a:rPr lang="en-US" altLang="en-US" sz="1900" dirty="0">
                <a:latin typeface="Times New Roman" panose="02020603050405020304" pitchFamily="18" charset="0"/>
                <a:cs typeface="Times New Roman" panose="02020603050405020304" pitchFamily="18" charset="0"/>
              </a:rPr>
              <a:t> Advertising and promotional displays</a:t>
            </a:r>
          </a:p>
          <a:p>
            <a:pPr marL="342900" lvl="0" algn="just" rtl="0">
              <a:lnSpc>
                <a:spcPct val="120000"/>
              </a:lnSpc>
              <a:spcBef>
                <a:spcPts val="0"/>
              </a:spcBef>
              <a:spcAft>
                <a:spcPts val="0"/>
              </a:spcAft>
              <a:buSzPts val="2000"/>
              <a:buFont typeface="Wingdings" panose="05000000000000000000" charset="0"/>
              <a:buChar char="Ø"/>
            </a:pPr>
            <a:endParaRPr lang="en-US" altLang="en-US" sz="1900" dirty="0">
              <a:latin typeface="Times New Roman" panose="02020603050405020304" pitchFamily="18" charset="0"/>
              <a:cs typeface="Times New Roman" panose="02020603050405020304" pitchFamily="18" charset="0"/>
            </a:endParaRPr>
          </a:p>
          <a:p>
            <a:pPr marL="342900" lvl="0" algn="just" rtl="0">
              <a:lnSpc>
                <a:spcPct val="120000"/>
              </a:lnSpc>
              <a:spcBef>
                <a:spcPts val="0"/>
              </a:spcBef>
              <a:spcAft>
                <a:spcPts val="0"/>
              </a:spcAft>
              <a:buSzPts val="2000"/>
              <a:buFont typeface="Wingdings" panose="05000000000000000000" charset="0"/>
              <a:buChar char="Ø"/>
            </a:pPr>
            <a:r>
              <a:rPr lang="en-US" altLang="en-US" sz="1900" dirty="0">
                <a:latin typeface="Times New Roman" panose="02020603050405020304" pitchFamily="18" charset="0"/>
                <a:cs typeface="Times New Roman" panose="02020603050405020304" pitchFamily="18" charset="0"/>
              </a:rPr>
              <a:t> Transportation hubs (airports, bus stations)</a:t>
            </a:r>
          </a:p>
          <a:p>
            <a:pPr marL="342900" lvl="0" algn="just" rtl="0">
              <a:lnSpc>
                <a:spcPct val="120000"/>
              </a:lnSpc>
              <a:spcBef>
                <a:spcPts val="0"/>
              </a:spcBef>
              <a:spcAft>
                <a:spcPts val="0"/>
              </a:spcAft>
              <a:buSzPts val="2000"/>
              <a:buFont typeface="Wingdings" panose="05000000000000000000" charset="0"/>
              <a:buChar char="Ø"/>
            </a:pPr>
            <a:endParaRPr lang="en-US" altLang="en-US" sz="1900" dirty="0">
              <a:latin typeface="Times New Roman" panose="02020603050405020304" pitchFamily="18" charset="0"/>
              <a:cs typeface="Times New Roman" panose="02020603050405020304" pitchFamily="18" charset="0"/>
            </a:endParaRPr>
          </a:p>
          <a:p>
            <a:pPr marL="342900" lvl="0" algn="just" rtl="0">
              <a:lnSpc>
                <a:spcPct val="120000"/>
              </a:lnSpc>
              <a:spcBef>
                <a:spcPts val="0"/>
              </a:spcBef>
              <a:spcAft>
                <a:spcPts val="0"/>
              </a:spcAft>
              <a:buSzPts val="2000"/>
              <a:buFont typeface="Wingdings" panose="05000000000000000000" charset="0"/>
              <a:buChar char="Ø"/>
            </a:pPr>
            <a:r>
              <a:rPr lang="en-US" altLang="en-US" sz="1900" dirty="0">
                <a:latin typeface="Times New Roman" panose="02020603050405020304" pitchFamily="18" charset="0"/>
                <a:cs typeface="Times New Roman" panose="02020603050405020304" pitchFamily="18" charset="0"/>
              </a:rPr>
              <a:t> Public events and exhibitions</a:t>
            </a:r>
          </a:p>
          <a:p>
            <a:pPr marL="342900" lvl="0" algn="just" rtl="0">
              <a:lnSpc>
                <a:spcPct val="120000"/>
              </a:lnSpc>
              <a:spcBef>
                <a:spcPts val="0"/>
              </a:spcBef>
              <a:spcAft>
                <a:spcPts val="0"/>
              </a:spcAft>
              <a:buSzPts val="2000"/>
              <a:buFont typeface="Wingdings" panose="05000000000000000000" charset="0"/>
              <a:buChar char="Ø"/>
            </a:pPr>
            <a:endParaRPr lang="en-US" altLang="en-US" sz="1900" dirty="0">
              <a:latin typeface="Times New Roman" panose="02020603050405020304" pitchFamily="18" charset="0"/>
              <a:cs typeface="Times New Roman" panose="02020603050405020304" pitchFamily="18" charset="0"/>
            </a:endParaRPr>
          </a:p>
          <a:p>
            <a:pPr marL="342900" lvl="0" algn="just" rtl="0">
              <a:lnSpc>
                <a:spcPct val="120000"/>
              </a:lnSpc>
              <a:spcBef>
                <a:spcPts val="0"/>
              </a:spcBef>
              <a:spcAft>
                <a:spcPts val="0"/>
              </a:spcAft>
              <a:buSzPts val="2000"/>
              <a:buFont typeface="Wingdings" panose="05000000000000000000" charset="0"/>
              <a:buChar char="Ø"/>
            </a:pPr>
            <a:r>
              <a:rPr lang="en-US" altLang="en-US" sz="1900" dirty="0">
                <a:latin typeface="Times New Roman" panose="02020603050405020304" pitchFamily="18" charset="0"/>
                <a:cs typeface="Times New Roman" panose="02020603050405020304" pitchFamily="18" charset="0"/>
              </a:rPr>
              <a:t> Rural or remote areas with limited power access</a:t>
            </a:r>
          </a:p>
          <a:p>
            <a:pPr marL="342900" lvl="0" algn="just" rtl="0">
              <a:lnSpc>
                <a:spcPct val="120000"/>
              </a:lnSpc>
              <a:spcBef>
                <a:spcPts val="0"/>
              </a:spcBef>
              <a:spcAft>
                <a:spcPts val="0"/>
              </a:spcAft>
              <a:buSzPts val="2000"/>
              <a:buFont typeface="Wingdings" panose="05000000000000000000" charset="0"/>
              <a:buChar char="Ø"/>
            </a:pPr>
            <a:endParaRPr lang="en-US" altLang="en-US" sz="1900" dirty="0">
              <a:latin typeface="Times New Roman" panose="02020603050405020304" pitchFamily="18" charset="0"/>
              <a:cs typeface="Times New Roman" panose="02020603050405020304" pitchFamily="18" charset="0"/>
            </a:endParaRPr>
          </a:p>
          <a:p>
            <a:pPr lvl="0" indent="-457200" algn="just" rtl="0">
              <a:lnSpc>
                <a:spcPct val="120000"/>
              </a:lnSpc>
              <a:spcBef>
                <a:spcPts val="0"/>
              </a:spcBef>
              <a:spcAft>
                <a:spcPts val="0"/>
              </a:spcAft>
              <a:buSzPts val="2000"/>
              <a:buFont typeface="Wingdings" panose="05000000000000000000" pitchFamily="2" charset="2"/>
              <a:buChar char="Ø"/>
            </a:pPr>
            <a:r>
              <a:rPr lang="en-US" altLang="en-US" sz="1900" dirty="0">
                <a:latin typeface="Times New Roman" panose="02020603050405020304" pitchFamily="18" charset="0"/>
                <a:cs typeface="Times New Roman" panose="02020603050405020304" pitchFamily="18" charset="0"/>
              </a:rPr>
              <a:t>Traffic management and information displays</a:t>
            </a:r>
          </a:p>
          <a:p>
            <a:pPr lvl="0" indent="-457200" algn="just" rtl="0">
              <a:lnSpc>
                <a:spcPct val="120000"/>
              </a:lnSpc>
              <a:spcBef>
                <a:spcPts val="0"/>
              </a:spcBef>
              <a:spcAft>
                <a:spcPts val="0"/>
              </a:spcAft>
              <a:buSzPts val="2000"/>
              <a:buFont typeface="Wingdings" panose="05000000000000000000" pitchFamily="2" charset="2"/>
              <a:buChar char="Ø"/>
            </a:pPr>
            <a:endParaRPr lang="en-US" altLang="en-US" sz="1900" dirty="0">
              <a:latin typeface="Times New Roman" panose="02020603050405020304" pitchFamily="18" charset="0"/>
              <a:cs typeface="Times New Roman" panose="02020603050405020304" pitchFamily="18" charset="0"/>
            </a:endParaRPr>
          </a:p>
          <a:p>
            <a:pPr marL="0" lvl="0" indent="0" algn="just" rtl="0">
              <a:lnSpc>
                <a:spcPct val="120000"/>
              </a:lnSpc>
              <a:spcBef>
                <a:spcPts val="0"/>
              </a:spcBef>
              <a:spcAft>
                <a:spcPts val="0"/>
              </a:spcAft>
              <a:buSzPts val="2000"/>
              <a:buNone/>
            </a:pPr>
            <a:r>
              <a:rPr lang="en-US" altLang="en-US" sz="1900" dirty="0">
                <a:latin typeface="Times New Roman" panose="02020603050405020304" pitchFamily="18" charset="0"/>
                <a:cs typeface="Times New Roman" panose="02020603050405020304" pitchFamily="18" charset="0"/>
              </a:rPr>
              <a:t> </a:t>
            </a:r>
            <a:endParaRPr lang="en-GB" sz="1900" dirty="0">
              <a:latin typeface="Times New Roman" panose="02020603050405020304" pitchFamily="18" charset="0"/>
              <a:cs typeface="Times New Roman" panose="02020603050405020304" pitchFamily="18" charset="0"/>
            </a:endParaRPr>
          </a:p>
          <a:p>
            <a:pPr marL="0" lvl="0" indent="0" algn="just" rtl="0">
              <a:lnSpc>
                <a:spcPct val="120000"/>
              </a:lnSpc>
              <a:spcBef>
                <a:spcPts val="0"/>
              </a:spcBef>
              <a:spcAft>
                <a:spcPts val="0"/>
              </a:spcAft>
              <a:buSzPts val="2000"/>
              <a:buNone/>
            </a:pPr>
            <a:endParaRPr lang="en-GB" sz="5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a:xfrm>
            <a:off x="152401" y="5791200"/>
            <a:ext cx="914399" cy="309201"/>
          </a:xfrm>
        </p:spPr>
        <p:txBody>
          <a:bodyPr/>
          <a:lstStyle/>
          <a:p>
            <a:fld id="{B9387537-A641-4ED1-8E3A-472CCC77C9A0}" type="datetime1">
              <a:rPr lang="en-US" sz="1400" smtClean="0">
                <a:solidFill>
                  <a:srgbClr val="FF0000"/>
                </a:solidFill>
                <a:latin typeface="Times New Roman" panose="02020603050405020304" pitchFamily="18" charset="0"/>
                <a:cs typeface="Times New Roman" panose="02020603050405020304" pitchFamily="18" charset="0"/>
              </a:rPr>
              <a:t>9/12/2025</a:t>
            </a:fld>
            <a:endParaRPr lang="en-US" sz="1400" dirty="0">
              <a:solidFill>
                <a:srgbClr val="FF000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solidFill>
                  <a:srgbClr val="FF0000"/>
                </a:solidFill>
                <a:latin typeface="Times New Roman" panose="02020603050405020304" pitchFamily="18" charset="0"/>
                <a:cs typeface="Times New Roman" panose="02020603050405020304" pitchFamily="18" charset="0"/>
              </a:rPr>
              <a:t>13</a:t>
            </a:fld>
            <a:endParaRPr lang="en-US"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pPr lvl="0">
              <a:buSzPts val="3200"/>
            </a:pPr>
            <a:r>
              <a:rPr lang="en-IN" b="1" dirty="0">
                <a:latin typeface="Times New Roman" panose="02020603050405020304" pitchFamily="18" charset="0"/>
                <a:cs typeface="Times New Roman" panose="02020603050405020304" pitchFamily="18" charset="0"/>
              </a:rPr>
              <a:t>Summary and Future trends </a:t>
            </a:r>
            <a:endParaRPr b="1">
              <a:latin typeface="Times New Roman" panose="02020603050405020304" pitchFamily="18" charset="0"/>
              <a:cs typeface="Times New Roman" panose="02020603050405020304" pitchFamily="18" charset="0"/>
            </a:endParaRPr>
          </a:p>
        </p:txBody>
      </p:sp>
      <p:sp>
        <p:nvSpPr>
          <p:cNvPr id="121" name="Google Shape;121;p2"/>
          <p:cNvSpPr txBox="1">
            <a:spLocks noGrp="1"/>
          </p:cNvSpPr>
          <p:nvPr>
            <p:ph idx="1"/>
          </p:nvPr>
        </p:nvSpPr>
        <p:spPr>
          <a:xfrm>
            <a:off x="1451610" y="2057400"/>
            <a:ext cx="9628505" cy="3458845"/>
          </a:xfrm>
          <a:prstGeom prst="rect">
            <a:avLst/>
          </a:prstGeom>
          <a:noFill/>
          <a:ln>
            <a:noFill/>
          </a:ln>
        </p:spPr>
        <p:txBody>
          <a:bodyPr spcFirstLastPara="1" wrap="square" lIns="91425" tIns="45700" rIns="91425" bIns="45700" anchor="t" anchorCtr="0">
            <a:normAutofit fontScale="62500" lnSpcReduction="20000"/>
          </a:bodyPr>
          <a:lstStyle/>
          <a:p>
            <a:pPr marL="0" lvl="0" indent="0" algn="just" rtl="0">
              <a:lnSpc>
                <a:spcPct val="120000"/>
              </a:lnSpc>
              <a:spcBef>
                <a:spcPts val="0"/>
              </a:spcBef>
              <a:spcAft>
                <a:spcPts val="0"/>
              </a:spcAft>
              <a:buSzPts val="2000"/>
              <a:buFont typeface="Wingdings" panose="05000000000000000000" pitchFamily="2" charset="2"/>
              <a:buChar char="Ø"/>
            </a:pPr>
            <a:r>
              <a:rPr lang="en-GB" sz="2900" dirty="0">
                <a:latin typeface="Times New Roman" panose="02020603050405020304" pitchFamily="18" charset="0"/>
                <a:cs typeface="Times New Roman" panose="02020603050405020304" pitchFamily="18" charset="0"/>
              </a:rPr>
              <a:t>Summary of project</a:t>
            </a:r>
          </a:p>
          <a:p>
            <a:pPr marL="0" lvl="0" indent="0" algn="just" rtl="0">
              <a:lnSpc>
                <a:spcPct val="120000"/>
              </a:lnSpc>
              <a:spcBef>
                <a:spcPts val="0"/>
              </a:spcBef>
              <a:spcAft>
                <a:spcPts val="0"/>
              </a:spcAft>
              <a:buSzPts val="2000"/>
              <a:buNone/>
            </a:pPr>
            <a:r>
              <a:rPr lang="en-US" sz="2900" dirty="0">
                <a:latin typeface="Times New Roman" panose="02020603050405020304" pitchFamily="18" charset="0"/>
                <a:cs typeface="Times New Roman" panose="02020603050405020304" pitchFamily="18" charset="0"/>
              </a:rPr>
              <a:t>The Solar-Powered P10 Scrolling Display using GSM Technology project aims to design and develop an energy-efficient display system that receives and displays messages via GSM technology. The system utilizes a solar panel to reduce energy consumption and a P10 scrolling display to clearly show messages. Integrated with a GSM module, the system enables remote message sending and receiving, increasing convenience and scalability. With its user-friendly interface and energy-efficient design, this system is ideal for public information display, advertising, emergency notification, and remote monitoring applications.</a:t>
            </a:r>
            <a:endParaRPr lang="en-GB" sz="2900" dirty="0">
              <a:latin typeface="Times New Roman" panose="02020603050405020304" pitchFamily="18" charset="0"/>
              <a:cs typeface="Times New Roman" panose="02020603050405020304" pitchFamily="18" charset="0"/>
            </a:endParaRPr>
          </a:p>
          <a:p>
            <a:pPr marL="0" lvl="0" indent="0" algn="just" rtl="0">
              <a:lnSpc>
                <a:spcPct val="120000"/>
              </a:lnSpc>
              <a:spcBef>
                <a:spcPts val="0"/>
              </a:spcBef>
              <a:spcAft>
                <a:spcPts val="0"/>
              </a:spcAft>
              <a:buSzPts val="2000"/>
              <a:buNone/>
            </a:pPr>
            <a:endParaRPr lang="en-GB" sz="2900" dirty="0">
              <a:latin typeface="Times New Roman" panose="02020603050405020304" pitchFamily="18" charset="0"/>
              <a:cs typeface="Times New Roman" panose="02020603050405020304" pitchFamily="18" charset="0"/>
            </a:endParaRPr>
          </a:p>
          <a:p>
            <a:pPr marL="0" lvl="0" indent="0" algn="just" rtl="0">
              <a:lnSpc>
                <a:spcPct val="120000"/>
              </a:lnSpc>
              <a:spcBef>
                <a:spcPts val="0"/>
              </a:spcBef>
              <a:spcAft>
                <a:spcPts val="0"/>
              </a:spcAft>
              <a:buSzPts val="2000"/>
              <a:buFont typeface="Wingdings" panose="05000000000000000000" pitchFamily="2" charset="2"/>
              <a:buChar char="Ø"/>
            </a:pPr>
            <a:r>
              <a:rPr lang="en-GB" sz="2900" dirty="0">
                <a:latin typeface="Times New Roman" panose="02020603050405020304" pitchFamily="18" charset="0"/>
                <a:cs typeface="Times New Roman" panose="02020603050405020304" pitchFamily="18" charset="0"/>
              </a:rPr>
              <a:t>Future trends</a:t>
            </a:r>
            <a:r>
              <a:rPr lang="en-US" altLang="en-GB" sz="2900" dirty="0">
                <a:latin typeface="Times New Roman" panose="02020603050405020304" pitchFamily="18" charset="0"/>
                <a:cs typeface="Times New Roman" panose="02020603050405020304" pitchFamily="18" charset="0"/>
              </a:rPr>
              <a:t>:-</a:t>
            </a:r>
            <a:endParaRPr lang="en-GB" sz="2900" dirty="0">
              <a:latin typeface="Times New Roman" panose="02020603050405020304" pitchFamily="18" charset="0"/>
              <a:cs typeface="Times New Roman" panose="02020603050405020304" pitchFamily="18" charset="0"/>
            </a:endParaRPr>
          </a:p>
          <a:p>
            <a:pPr marL="0" lvl="0" indent="0" algn="just" rtl="0">
              <a:lnSpc>
                <a:spcPct val="120000"/>
              </a:lnSpc>
              <a:spcBef>
                <a:spcPts val="0"/>
              </a:spcBef>
              <a:spcAft>
                <a:spcPts val="0"/>
              </a:spcAft>
              <a:buSzPts val="2000"/>
              <a:buNone/>
            </a:pPr>
            <a:r>
              <a:rPr lang="en-US" altLang="en-US" sz="2900" dirty="0">
                <a:latin typeface="Times New Roman" panose="02020603050405020304" pitchFamily="18" charset="0"/>
                <a:cs typeface="Times New Roman" panose="02020603050405020304" pitchFamily="18" charset="0"/>
              </a:rPr>
              <a:t>public places like bus stops, parks, shopping malls,railway platforms, banks, public offices, hotels,training institutes, nightclubs and shops.</a:t>
            </a:r>
          </a:p>
          <a:p>
            <a:pPr marL="0" lvl="0" indent="0" algn="just" rtl="0">
              <a:lnSpc>
                <a:spcPct val="120000"/>
              </a:lnSpc>
              <a:spcBef>
                <a:spcPts val="0"/>
              </a:spcBef>
              <a:spcAft>
                <a:spcPts val="0"/>
              </a:spcAft>
              <a:buSzPts val="2000"/>
              <a:buNone/>
            </a:pPr>
            <a:endParaRPr lang="en-US" altLang="en-US"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a:xfrm>
            <a:off x="152401" y="5791200"/>
            <a:ext cx="914399" cy="309201"/>
          </a:xfrm>
        </p:spPr>
        <p:txBody>
          <a:bodyPr/>
          <a:lstStyle/>
          <a:p>
            <a:fld id="{B9387537-A641-4ED1-8E3A-472CCC77C9A0}" type="datetime1">
              <a:rPr lang="en-US" sz="1400" smtClean="0">
                <a:solidFill>
                  <a:srgbClr val="FF0000"/>
                </a:solidFill>
                <a:latin typeface="Times New Roman" panose="02020603050405020304" pitchFamily="18" charset="0"/>
                <a:cs typeface="Times New Roman" panose="02020603050405020304" pitchFamily="18" charset="0"/>
              </a:rPr>
              <a:t>9/12/2025</a:t>
            </a:fld>
            <a:endParaRPr lang="en-US" sz="1400" dirty="0">
              <a:solidFill>
                <a:srgbClr val="FF000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solidFill>
                  <a:srgbClr val="FF0000"/>
                </a:solidFill>
                <a:latin typeface="Times New Roman" panose="02020603050405020304" pitchFamily="18" charset="0"/>
                <a:cs typeface="Times New Roman" panose="02020603050405020304" pitchFamily="18" charset="0"/>
              </a:rPr>
              <a:t>14</a:t>
            </a:fld>
            <a:endParaRPr lang="en-US"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4" name="Date Placeholder 3"/>
          <p:cNvSpPr>
            <a:spLocks noGrp="1"/>
          </p:cNvSpPr>
          <p:nvPr>
            <p:ph type="dt" sz="half" idx="10"/>
          </p:nvPr>
        </p:nvSpPr>
        <p:spPr>
          <a:xfrm>
            <a:off x="152401" y="5791200"/>
            <a:ext cx="914399" cy="309201"/>
          </a:xfrm>
        </p:spPr>
        <p:txBody>
          <a:bodyPr/>
          <a:lstStyle/>
          <a:p>
            <a:fld id="{B9387537-A641-4ED1-8E3A-472CCC77C9A0}" type="datetime1">
              <a:rPr lang="en-US" sz="1400" smtClean="0">
                <a:solidFill>
                  <a:srgbClr val="FF0000"/>
                </a:solidFill>
                <a:latin typeface="Times New Roman" panose="02020603050405020304" pitchFamily="18" charset="0"/>
                <a:cs typeface="Times New Roman" panose="02020603050405020304" pitchFamily="18" charset="0"/>
              </a:rPr>
              <a:t>9/12/2025</a:t>
            </a:fld>
            <a:endParaRPr lang="en-US" sz="1400" dirty="0">
              <a:solidFill>
                <a:srgbClr val="FF0000"/>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solidFill>
                  <a:srgbClr val="FF0000"/>
                </a:solidFill>
                <a:latin typeface="Times New Roman" panose="02020603050405020304" pitchFamily="18" charset="0"/>
                <a:cs typeface="Times New Roman" panose="02020603050405020304" pitchFamily="18" charset="0"/>
              </a:rPr>
              <a:t>15</a:t>
            </a:fld>
            <a:endParaRPr lang="en-US"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432</TotalTime>
  <Words>2336</Words>
  <Application>Microsoft Office PowerPoint</Application>
  <PresentationFormat>Custom</PresentationFormat>
  <Paragraphs>224</Paragraphs>
  <Slides>15</Slides>
  <Notes>12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Wingdings 2</vt:lpstr>
      <vt:lpstr>Gill Sans</vt:lpstr>
      <vt:lpstr>Constantia</vt:lpstr>
      <vt:lpstr>Times New Roman</vt:lpstr>
      <vt:lpstr>Calibri</vt:lpstr>
      <vt:lpstr>Wingdings</vt:lpstr>
      <vt:lpstr>Flow</vt:lpstr>
      <vt:lpstr>SSPM’s College of Engineering.  Kankavali. Sindhudurg Department Of Electrical Engineering.</vt:lpstr>
      <vt:lpstr>Abstract</vt:lpstr>
      <vt:lpstr>Introduction</vt:lpstr>
      <vt:lpstr>Literature Review</vt:lpstr>
      <vt:lpstr>PowerPoint Presentation</vt:lpstr>
      <vt:lpstr>Problem statement</vt:lpstr>
      <vt:lpstr>PowerPoint Presentation</vt:lpstr>
      <vt:lpstr>PowerPoint Presentation</vt:lpstr>
      <vt:lpstr>PowerPoint Presentation</vt:lpstr>
      <vt:lpstr>Hardware Implementation</vt:lpstr>
      <vt:lpstr>PowerPoint Presentation</vt:lpstr>
      <vt:lpstr>Results and Discussion</vt:lpstr>
      <vt:lpstr>Application of the system</vt:lpstr>
      <vt:lpstr>Summary and Future trends </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RFID BASE AND WIFI  BASED PORTABLE LOCK.</dc:title>
  <dc:creator>Elect cs</dc:creator>
  <cp:lastModifiedBy>mech420</cp:lastModifiedBy>
  <cp:revision>39</cp:revision>
  <dcterms:created xsi:type="dcterms:W3CDTF">2025-01-18T05:16:00Z</dcterms:created>
  <dcterms:modified xsi:type="dcterms:W3CDTF">2025-09-12T07:42:03Z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4EC57A38930A46E984B777589D94908C_12</vt:lpwstr>
  </property>
  <property fmtid="{D5CDD505-2E9C-101B-9397-08002B2CF9AE}" pid="3" name="KSOProductBuildVer">
    <vt:lpwstr>1033-12.2.0.19805</vt:lpwstr>
  </property>
</Properties>
</file>